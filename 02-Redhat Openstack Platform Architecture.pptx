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4" r:id="rId3"/>
    <p:sldId id="309" r:id="rId4"/>
    <p:sldId id="311" r:id="rId5"/>
    <p:sldId id="317" r:id="rId6"/>
    <p:sldId id="315" r:id="rId7"/>
    <p:sldId id="318" r:id="rId8"/>
    <p:sldId id="316" r:id="rId9"/>
    <p:sldId id="305" r:id="rId10"/>
    <p:sldId id="308" r:id="rId11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1A41"/>
    <a:srgbClr val="CC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0CF2-FCA2-3017-2769-D9DFEBAFD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50852-FC79-3049-F5C9-4298A806E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20648-C733-F863-B3B2-0037C5BCC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76099-45EB-9069-B6AF-BDD782F51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E8555-3E83-976B-2600-44E2CEE1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8364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1956-1098-076F-2C4A-AB2CC3955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BAFB3-F359-90D1-B039-C97E65502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51548-3559-CD14-52E0-097AE4D72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F95F9-D6D8-934E-BA37-5D2F939EF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DF989-7C97-B581-29DD-F2AF9F98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28607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9421E-1CFA-1530-A111-1E8345BBD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0CC0E-7991-9AC0-0CE5-0BAD8744E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BE08C-2168-FFBD-3579-0151465EC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06D78-1A8D-212D-578F-64B5149C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035FE-7972-64FF-82B0-54ADADB6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0346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5C0A-2840-F935-DBB9-A3688DCB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A7945-E10D-3E48-3A49-15EBB3C3A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69870-81D6-34DE-DFB8-31F58114A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943D5-4EB9-64C3-EBA5-749016434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5233A-68AB-7476-156E-E04CDB5A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7C11E-2871-E1E6-F15D-97D5B881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43061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204D-F5A9-546B-2EB3-F8BA360AF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E8832-B431-41B7-B093-732B7FC44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E9A22-F849-2560-84A0-14499CC18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1B1A2-0531-9936-E37C-457382044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AC8BEE-14D0-919E-8121-831712D519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995FBA-015A-E9C6-B6AF-4FE19EEF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626AB3-2E2C-5CED-F40A-8603D0DB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BB0865-F7B7-F94B-1D4E-897CA345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5941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2CA6-93A2-DE49-2DA5-ACCAEA5D6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C13804-0205-84A4-A66A-FB4822F5D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548DDB-C4DE-2CD4-DF32-8744F2C7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ECD56-CA9A-CD4D-F191-2467D071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2620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5A6013-85A9-D604-7094-E1F4FAF5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289CE3-70EC-CAD0-C6C5-8D36C9ED0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F1D37-4053-FA48-54C1-0FBE55E69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6275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FE96-41A5-BC76-BF03-3E74B5E6C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D33C4-AF09-102D-E1F5-F0A2939E9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36C54-9D05-D140-7C33-89D3298B9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3BE8D-CC10-86E7-A667-3FAB5692F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FA4F8-629B-D4D1-1A1A-F687AB21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250EF-9F62-A199-3095-E1F40AF2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69638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6BB7-0D12-1C7F-65B7-8A672666C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7273E5-BE5C-EBB9-F3FE-9C51A0277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CBC0D-F825-BEB4-CA5F-008A8FB20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A6A26-D283-8AE5-07B2-9A647E344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96740-0947-B689-CB64-C1F3E2F5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E2E90-BB47-D4D2-572A-D8F8A0A7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5170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5E148-756A-305C-2D41-1A2DF1F3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54608-02FA-D954-AA44-D918468FD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E70D8-02E4-226E-1388-5228F451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7D413-7A61-9C97-DC0B-2CADDEB3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C10D5-5DA9-E9D6-908F-06C382F3C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0549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3793C1-C507-A92A-20BA-21DB1F31C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E482-1FEA-8CFF-7EB7-35C8F9B33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B6A68-1F69-75F2-F25C-BAC573860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4E78-A0DD-4D5D-BACA-F1EFFF5DE7B8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8D3A0-72B6-E194-1688-116E78567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0A758-AC68-5B72-E75A-785134489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4672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67776-9C60-EBDB-86AE-12C45A42C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23B2F-D454-7067-1A3D-DC1AB0078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C3A12-B03A-CEF3-A0C5-61C35FAC4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444E78-A0DD-4D5D-BACA-F1EFFF5DE7B8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7D791-46D4-0211-FEFB-3A13541A9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DCC08-47F3-191B-D529-B63618680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B23BE9-C40C-41D7-95B4-97C5B0006D9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3019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14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6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21.png"/><Relationship Id="rId5" Type="http://schemas.openxmlformats.org/officeDocument/2006/relationships/image" Target="../media/image6.png"/><Relationship Id="rId10" Type="http://schemas.openxmlformats.org/officeDocument/2006/relationships/image" Target="../media/image17.png"/><Relationship Id="rId4" Type="http://schemas.openxmlformats.org/officeDocument/2006/relationships/image" Target="../media/image37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6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17.png"/><Relationship Id="rId10" Type="http://schemas.openxmlformats.org/officeDocument/2006/relationships/image" Target="../media/image47.png"/><Relationship Id="rId4" Type="http://schemas.openxmlformats.org/officeDocument/2006/relationships/image" Target="../media/image7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9DF085E-AFA7-AD3E-4BBF-E02211101F79}"/>
              </a:ext>
            </a:extLst>
          </p:cNvPr>
          <p:cNvSpPr/>
          <p:nvPr/>
        </p:nvSpPr>
        <p:spPr>
          <a:xfrm>
            <a:off x="4180840" y="4419600"/>
            <a:ext cx="6187440" cy="20726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F1F5DE-6975-B75F-4A38-537989CD0CF3}"/>
              </a:ext>
            </a:extLst>
          </p:cNvPr>
          <p:cNvSpPr/>
          <p:nvPr/>
        </p:nvSpPr>
        <p:spPr>
          <a:xfrm>
            <a:off x="4608576" y="5084064"/>
            <a:ext cx="6108192" cy="1408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122154-B382-473E-3772-BC73C4611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566" y="2438400"/>
            <a:ext cx="8288867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OpenStack Architecture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47FF84-03B5-383F-8F70-85C7ED9062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829040" y="230188"/>
            <a:ext cx="3200400" cy="127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91AA0-DA16-2B63-1864-1D031552E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A143-5DC6-C918-FB20-ACD7285A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OpenStack Services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9E5F3-1F85-140B-1E59-AA8DF17B4B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991600" y="10048"/>
            <a:ext cx="3200400" cy="127349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A4F6E0-ACEA-53D1-DCCE-9AECDC73F876}"/>
              </a:ext>
            </a:extLst>
          </p:cNvPr>
          <p:cNvGrpSpPr/>
          <p:nvPr/>
        </p:nvGrpSpPr>
        <p:grpSpPr>
          <a:xfrm>
            <a:off x="577056" y="1538191"/>
            <a:ext cx="6738461" cy="1264450"/>
            <a:chOff x="609600" y="1614721"/>
            <a:chExt cx="6738461" cy="1264450"/>
          </a:xfrm>
        </p:grpSpPr>
        <p:sp>
          <p:nvSpPr>
            <p:cNvPr id="24" name="Rounded Rectangle 2">
              <a:extLst>
                <a:ext uri="{FF2B5EF4-FFF2-40B4-BE49-F238E27FC236}">
                  <a16:creationId xmlns:a16="http://schemas.microsoft.com/office/drawing/2014/main" id="{5E04C8C0-D213-D207-0CEA-04B2C4B28309}"/>
                </a:ext>
              </a:extLst>
            </p:cNvPr>
            <p:cNvSpPr/>
            <p:nvPr/>
          </p:nvSpPr>
          <p:spPr>
            <a:xfrm>
              <a:off x="609600" y="1614721"/>
              <a:ext cx="5391150" cy="1264450"/>
            </a:xfrm>
            <a:prstGeom prst="roundRect">
              <a:avLst>
                <a:gd name="adj" fmla="val 792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97F8E31-3226-98FC-0EFA-CEDCE1DAE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625" y="1726269"/>
              <a:ext cx="171450" cy="171450"/>
            </a:xfrm>
            <a:prstGeom prst="rect">
              <a:avLst/>
            </a:prstGeom>
          </p:spPr>
        </p:pic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47E2C4BF-1270-BDD1-B520-8111049AF7BF}"/>
                </a:ext>
              </a:extLst>
            </p:cNvPr>
            <p:cNvSpPr txBox="1"/>
            <p:nvPr/>
          </p:nvSpPr>
          <p:spPr>
            <a:xfrm>
              <a:off x="1057275" y="1702457"/>
              <a:ext cx="6290786" cy="21907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350" b="1" i="0" u="none">
                  <a:solidFill>
                    <a:srgbClr val="0F172A"/>
                  </a:solidFill>
                  <a:latin typeface="Plus Jakarta Sans"/>
                </a:rPr>
                <a:t>Compute &amp; Hardware Lifecycle</a:t>
              </a:r>
            </a:p>
          </p:txBody>
        </p:sp>
        <p:sp>
          <p:nvSpPr>
            <p:cNvPr id="39" name="TextBox 16">
              <a:extLst>
                <a:ext uri="{FF2B5EF4-FFF2-40B4-BE49-F238E27FC236}">
                  <a16:creationId xmlns:a16="http://schemas.microsoft.com/office/drawing/2014/main" id="{575AFAB2-901B-0CA4-3995-F779AF49F305}"/>
                </a:ext>
              </a:extLst>
            </p:cNvPr>
            <p:cNvSpPr txBox="1"/>
            <p:nvPr/>
          </p:nvSpPr>
          <p:spPr>
            <a:xfrm>
              <a:off x="809625" y="1997732"/>
              <a:ext cx="5086350" cy="7694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470"/>
                </a:lnSpc>
              </a:pP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NOVA: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Compute Service (VMs)</a:t>
              </a:r>
              <a:r>
                <a:rPr dirty="0"/>
                <a:t>
</a:t>
              </a:r>
              <a:r>
                <a:rPr lang="en-US" sz="1050" b="1" i="0" u="none" dirty="0">
                  <a:solidFill>
                    <a:srgbClr val="475569"/>
                  </a:solidFill>
                  <a:latin typeface="Plus Jakarta Sans"/>
                </a:rPr>
                <a:t>ZUN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Containers Service</a:t>
              </a:r>
              <a:r>
                <a:rPr dirty="0"/>
                <a:t>
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IRONIC: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Bare Metal Provisioning</a:t>
              </a:r>
              <a:r>
                <a:rPr dirty="0"/>
                <a:t>
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CYBORG: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Accelerators (GPUs, FPGAs</a:t>
              </a:r>
              <a:r>
                <a:rPr lang="en-US" sz="1050" dirty="0">
                  <a:solidFill>
                    <a:srgbClr val="475569"/>
                  </a:solidFill>
                  <a:latin typeface="Plus Jakarta Sans"/>
                </a:rPr>
                <a:t>, DPUs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)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2404CA-89E6-D24E-2ABB-954274FF08FC}"/>
              </a:ext>
            </a:extLst>
          </p:cNvPr>
          <p:cNvGrpSpPr/>
          <p:nvPr/>
        </p:nvGrpSpPr>
        <p:grpSpPr>
          <a:xfrm>
            <a:off x="577056" y="2884181"/>
            <a:ext cx="6000750" cy="1122504"/>
            <a:chOff x="6191250" y="1600853"/>
            <a:chExt cx="6000750" cy="1122504"/>
          </a:xfrm>
        </p:grpSpPr>
        <p:sp>
          <p:nvSpPr>
            <p:cNvPr id="25" name="Rounded Rectangle 3">
              <a:extLst>
                <a:ext uri="{FF2B5EF4-FFF2-40B4-BE49-F238E27FC236}">
                  <a16:creationId xmlns:a16="http://schemas.microsoft.com/office/drawing/2014/main" id="{9181A020-E579-4EA1-B78C-CB86F3A27291}"/>
                </a:ext>
              </a:extLst>
            </p:cNvPr>
            <p:cNvSpPr/>
            <p:nvPr/>
          </p:nvSpPr>
          <p:spPr>
            <a:xfrm>
              <a:off x="6191250" y="1600853"/>
              <a:ext cx="5391150" cy="1122504"/>
            </a:xfrm>
            <a:prstGeom prst="roundRect">
              <a:avLst>
                <a:gd name="adj" fmla="val 792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850D95E-CD53-D5A6-477B-6BE164FB0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1275" y="1726269"/>
              <a:ext cx="152400" cy="171450"/>
            </a:xfrm>
            <a:prstGeom prst="rect">
              <a:avLst/>
            </a:prstGeom>
          </p:spPr>
        </p:pic>
        <p:sp>
          <p:nvSpPr>
            <p:cNvPr id="41" name="TextBox 17">
              <a:extLst>
                <a:ext uri="{FF2B5EF4-FFF2-40B4-BE49-F238E27FC236}">
                  <a16:creationId xmlns:a16="http://schemas.microsoft.com/office/drawing/2014/main" id="{DBDDABCA-22E0-54EF-4DF4-52BF6266656C}"/>
                </a:ext>
              </a:extLst>
            </p:cNvPr>
            <p:cNvSpPr txBox="1"/>
            <p:nvPr/>
          </p:nvSpPr>
          <p:spPr>
            <a:xfrm>
              <a:off x="6619875" y="1702457"/>
              <a:ext cx="5572125" cy="21907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350" b="1" i="0" u="none">
                  <a:solidFill>
                    <a:srgbClr val="0F172A"/>
                  </a:solidFill>
                  <a:latin typeface="Plus Jakarta Sans"/>
                </a:rPr>
                <a:t>Storage Services</a:t>
              </a:r>
            </a:p>
          </p:txBody>
        </p:sp>
        <p:sp>
          <p:nvSpPr>
            <p:cNvPr id="65" name="TextBox 18">
              <a:extLst>
                <a:ext uri="{FF2B5EF4-FFF2-40B4-BE49-F238E27FC236}">
                  <a16:creationId xmlns:a16="http://schemas.microsoft.com/office/drawing/2014/main" id="{7B561E73-159C-9AE2-5BB9-71D9E9A77D66}"/>
                </a:ext>
              </a:extLst>
            </p:cNvPr>
            <p:cNvSpPr txBox="1"/>
            <p:nvPr/>
          </p:nvSpPr>
          <p:spPr>
            <a:xfrm>
              <a:off x="6391275" y="1997732"/>
              <a:ext cx="5086350" cy="5598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470"/>
                </a:lnSpc>
              </a:pP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SWIFT: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Object Storage Service</a:t>
              </a:r>
              <a:r>
                <a:rPr dirty="0"/>
                <a:t>
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CINDER: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Block Storage Service</a:t>
              </a:r>
              <a:r>
                <a:rPr dirty="0"/>
                <a:t>
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MANILA: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Shared File Systems (NFS/CIFS)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E6CECDB-1397-B98C-1306-3CE5CFE1BE56}"/>
              </a:ext>
            </a:extLst>
          </p:cNvPr>
          <p:cNvGrpSpPr/>
          <p:nvPr/>
        </p:nvGrpSpPr>
        <p:grpSpPr>
          <a:xfrm>
            <a:off x="578370" y="4082667"/>
            <a:ext cx="6736080" cy="975773"/>
            <a:chOff x="609600" y="3271464"/>
            <a:chExt cx="6736080" cy="975773"/>
          </a:xfrm>
        </p:grpSpPr>
        <p:sp>
          <p:nvSpPr>
            <p:cNvPr id="26" name="Rounded Rectangle 4">
              <a:extLst>
                <a:ext uri="{FF2B5EF4-FFF2-40B4-BE49-F238E27FC236}">
                  <a16:creationId xmlns:a16="http://schemas.microsoft.com/office/drawing/2014/main" id="{FB87CAE4-CD10-E689-8874-43D94B244B4D}"/>
                </a:ext>
              </a:extLst>
            </p:cNvPr>
            <p:cNvSpPr/>
            <p:nvPr/>
          </p:nvSpPr>
          <p:spPr>
            <a:xfrm>
              <a:off x="609600" y="3271464"/>
              <a:ext cx="5391150" cy="975773"/>
            </a:xfrm>
            <a:prstGeom prst="roundRect">
              <a:avLst>
                <a:gd name="adj" fmla="val 792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A07954D-2952-3EDA-9A8E-A7EA8F244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9625" y="3358616"/>
              <a:ext cx="219075" cy="171450"/>
            </a:xfrm>
            <a:prstGeom prst="rect">
              <a:avLst/>
            </a:prstGeom>
          </p:spPr>
        </p:pic>
        <p:sp>
          <p:nvSpPr>
            <p:cNvPr id="66" name="TextBox 19">
              <a:extLst>
                <a:ext uri="{FF2B5EF4-FFF2-40B4-BE49-F238E27FC236}">
                  <a16:creationId xmlns:a16="http://schemas.microsoft.com/office/drawing/2014/main" id="{425DAF44-96DE-3BBD-A41D-ECA1A3EFCC05}"/>
                </a:ext>
              </a:extLst>
            </p:cNvPr>
            <p:cNvSpPr txBox="1"/>
            <p:nvPr/>
          </p:nvSpPr>
          <p:spPr>
            <a:xfrm>
              <a:off x="1104900" y="3334803"/>
              <a:ext cx="6240780" cy="21907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350" b="1" i="0" u="none">
                  <a:solidFill>
                    <a:srgbClr val="0F172A"/>
                  </a:solidFill>
                  <a:latin typeface="Plus Jakarta Sans"/>
                </a:rPr>
                <a:t>Networking &amp; DNS</a:t>
              </a:r>
            </a:p>
          </p:txBody>
        </p:sp>
        <p:sp>
          <p:nvSpPr>
            <p:cNvPr id="67" name="TextBox 20">
              <a:extLst>
                <a:ext uri="{FF2B5EF4-FFF2-40B4-BE49-F238E27FC236}">
                  <a16:creationId xmlns:a16="http://schemas.microsoft.com/office/drawing/2014/main" id="{5C3D8C0E-2EEE-5253-0217-7746F0B6300A}"/>
                </a:ext>
              </a:extLst>
            </p:cNvPr>
            <p:cNvSpPr txBox="1"/>
            <p:nvPr/>
          </p:nvSpPr>
          <p:spPr>
            <a:xfrm>
              <a:off x="809625" y="3630078"/>
              <a:ext cx="5086350" cy="5598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470"/>
                </a:lnSpc>
              </a:pP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NEUTRON: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Networking Service</a:t>
              </a:r>
              <a:r>
                <a:rPr dirty="0"/>
                <a:t>
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OCTAVIA: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Load Balancer Service</a:t>
              </a:r>
              <a:r>
                <a:rPr dirty="0"/>
                <a:t>
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DESIGNATE: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DNS-as-a-Service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C7E2659-6F79-BF66-2F38-D4CEB60FDEAF}"/>
              </a:ext>
            </a:extLst>
          </p:cNvPr>
          <p:cNvGrpSpPr/>
          <p:nvPr/>
        </p:nvGrpSpPr>
        <p:grpSpPr>
          <a:xfrm>
            <a:off x="6064251" y="2947827"/>
            <a:ext cx="6000750" cy="1184988"/>
            <a:chOff x="6191250" y="3248410"/>
            <a:chExt cx="6000750" cy="1184988"/>
          </a:xfrm>
        </p:grpSpPr>
        <p:sp>
          <p:nvSpPr>
            <p:cNvPr id="27" name="Rounded Rectangle 5">
              <a:extLst>
                <a:ext uri="{FF2B5EF4-FFF2-40B4-BE49-F238E27FC236}">
                  <a16:creationId xmlns:a16="http://schemas.microsoft.com/office/drawing/2014/main" id="{280DDCE8-A040-74B5-E7A1-E3795C4F98F7}"/>
                </a:ext>
              </a:extLst>
            </p:cNvPr>
            <p:cNvSpPr/>
            <p:nvPr/>
          </p:nvSpPr>
          <p:spPr>
            <a:xfrm>
              <a:off x="6191250" y="3248410"/>
              <a:ext cx="5391150" cy="1184988"/>
            </a:xfrm>
            <a:prstGeom prst="roundRect">
              <a:avLst>
                <a:gd name="adj" fmla="val 792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043061A-5E81-A0BD-2504-8943D7B20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91275" y="3358616"/>
              <a:ext cx="171450" cy="171450"/>
            </a:xfrm>
            <a:prstGeom prst="rect">
              <a:avLst/>
            </a:prstGeom>
          </p:spPr>
        </p:pic>
        <p:sp>
          <p:nvSpPr>
            <p:cNvPr id="68" name="TextBox 21">
              <a:extLst>
                <a:ext uri="{FF2B5EF4-FFF2-40B4-BE49-F238E27FC236}">
                  <a16:creationId xmlns:a16="http://schemas.microsoft.com/office/drawing/2014/main" id="{5A42FD3A-0A67-DD62-A54C-703AA9F78CC2}"/>
                </a:ext>
              </a:extLst>
            </p:cNvPr>
            <p:cNvSpPr txBox="1"/>
            <p:nvPr/>
          </p:nvSpPr>
          <p:spPr>
            <a:xfrm>
              <a:off x="6638925" y="3334803"/>
              <a:ext cx="5553075" cy="21907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350" b="1" i="0" u="none">
                  <a:solidFill>
                    <a:srgbClr val="0F172A"/>
                  </a:solidFill>
                  <a:latin typeface="Plus Jakarta Sans"/>
                </a:rPr>
                <a:t>Shared Infrastructure</a:t>
              </a:r>
            </a:p>
          </p:txBody>
        </p:sp>
        <p:sp>
          <p:nvSpPr>
            <p:cNvPr id="69" name="TextBox 22">
              <a:extLst>
                <a:ext uri="{FF2B5EF4-FFF2-40B4-BE49-F238E27FC236}">
                  <a16:creationId xmlns:a16="http://schemas.microsoft.com/office/drawing/2014/main" id="{0AEEB196-B28A-32D9-1D5D-E767C892FC6E}"/>
                </a:ext>
              </a:extLst>
            </p:cNvPr>
            <p:cNvSpPr txBox="1"/>
            <p:nvPr/>
          </p:nvSpPr>
          <p:spPr>
            <a:xfrm>
              <a:off x="6391275" y="3630078"/>
              <a:ext cx="5086350" cy="7465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470"/>
                </a:lnSpc>
              </a:pPr>
              <a:r>
                <a:rPr sz="1050" b="1" i="0" u="none">
                  <a:solidFill>
                    <a:srgbClr val="475569"/>
                  </a:solidFill>
                  <a:latin typeface="Plus Jakarta Sans"/>
                </a:rPr>
                <a:t>KEYSTONE:</a:t>
              </a:r>
              <a:r>
                <a:rPr sz="1050" b="0" i="0" u="none">
                  <a:solidFill>
                    <a:srgbClr val="475569"/>
                  </a:solidFill>
                  <a:latin typeface="Plus Jakarta Sans"/>
                </a:rPr>
                <a:t> Identity Service</a:t>
              </a:r>
              <a:r>
                <a:t>
</a:t>
              </a:r>
              <a:r>
                <a:rPr sz="1050" b="1" i="0" u="none">
                  <a:solidFill>
                    <a:srgbClr val="475569"/>
                  </a:solidFill>
                  <a:latin typeface="Plus Jakarta Sans"/>
                </a:rPr>
                <a:t>PLACEMENT:</a:t>
              </a:r>
              <a:r>
                <a:rPr sz="1050" b="0" i="0" u="none">
                  <a:solidFill>
                    <a:srgbClr val="475569"/>
                  </a:solidFill>
                  <a:latin typeface="Plus Jakarta Sans"/>
                </a:rPr>
                <a:t> Resource Inventory Tracker</a:t>
              </a:r>
              <a:r>
                <a:t>
</a:t>
              </a:r>
              <a:r>
                <a:rPr sz="1050" b="1" i="0" u="none">
                  <a:solidFill>
                    <a:srgbClr val="475569"/>
                  </a:solidFill>
                  <a:latin typeface="Plus Jakarta Sans"/>
                </a:rPr>
                <a:t>GLANCE:</a:t>
              </a:r>
              <a:r>
                <a:rPr sz="1050" b="0" i="0" u="none">
                  <a:solidFill>
                    <a:srgbClr val="475569"/>
                  </a:solidFill>
                  <a:latin typeface="Plus Jakarta Sans"/>
                </a:rPr>
                <a:t> Image Service</a:t>
              </a:r>
              <a:r>
                <a:t>
</a:t>
              </a:r>
              <a:r>
                <a:rPr sz="1050" b="1" i="0" u="none">
                  <a:solidFill>
                    <a:srgbClr val="475569"/>
                  </a:solidFill>
                  <a:latin typeface="Plus Jakarta Sans"/>
                </a:rPr>
                <a:t>BARBICAN:</a:t>
              </a:r>
              <a:r>
                <a:rPr sz="1050" b="0" i="0" u="none">
                  <a:solidFill>
                    <a:srgbClr val="475569"/>
                  </a:solidFill>
                  <a:latin typeface="Plus Jakarta Sans"/>
                </a:rPr>
                <a:t> Key Management &amp; Secrets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0CE05BF-8390-E8A3-D8DA-6B67D1E7723D}"/>
              </a:ext>
            </a:extLst>
          </p:cNvPr>
          <p:cNvGrpSpPr/>
          <p:nvPr/>
        </p:nvGrpSpPr>
        <p:grpSpPr>
          <a:xfrm>
            <a:off x="6064251" y="1535790"/>
            <a:ext cx="5391150" cy="1340242"/>
            <a:chOff x="609600" y="4931446"/>
            <a:chExt cx="5391150" cy="1340242"/>
          </a:xfrm>
        </p:grpSpPr>
        <p:sp>
          <p:nvSpPr>
            <p:cNvPr id="10" name="Rounded Rectangle 2">
              <a:extLst>
                <a:ext uri="{FF2B5EF4-FFF2-40B4-BE49-F238E27FC236}">
                  <a16:creationId xmlns:a16="http://schemas.microsoft.com/office/drawing/2014/main" id="{68D4577F-C456-2CA2-4B9F-DC2730D8D420}"/>
                </a:ext>
              </a:extLst>
            </p:cNvPr>
            <p:cNvSpPr/>
            <p:nvPr/>
          </p:nvSpPr>
          <p:spPr>
            <a:xfrm>
              <a:off x="609600" y="4931446"/>
              <a:ext cx="5391150" cy="1340242"/>
            </a:xfrm>
            <a:prstGeom prst="roundRect">
              <a:avLst>
                <a:gd name="adj" fmla="val 792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8" name="TextBox 15">
              <a:extLst>
                <a:ext uri="{FF2B5EF4-FFF2-40B4-BE49-F238E27FC236}">
                  <a16:creationId xmlns:a16="http://schemas.microsoft.com/office/drawing/2014/main" id="{FE7917E5-5FFD-0306-4BB1-83DB0AD8A9B3}"/>
                </a:ext>
              </a:extLst>
            </p:cNvPr>
            <p:cNvSpPr txBox="1"/>
            <p:nvPr/>
          </p:nvSpPr>
          <p:spPr>
            <a:xfrm>
              <a:off x="1057275" y="5035530"/>
              <a:ext cx="982513" cy="20774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350" b="1" i="0" u="none" dirty="0">
                  <a:solidFill>
                    <a:srgbClr val="0F172A"/>
                  </a:solidFill>
                  <a:latin typeface="Plus Jakarta Sans"/>
                </a:rPr>
                <a:t>Orchestration</a:t>
              </a:r>
            </a:p>
          </p:txBody>
        </p:sp>
        <p:sp>
          <p:nvSpPr>
            <p:cNvPr id="20" name="TextBox 16">
              <a:extLst>
                <a:ext uri="{FF2B5EF4-FFF2-40B4-BE49-F238E27FC236}">
                  <a16:creationId xmlns:a16="http://schemas.microsoft.com/office/drawing/2014/main" id="{49CAA574-EAA3-6301-26F5-DBD4438DD775}"/>
                </a:ext>
              </a:extLst>
            </p:cNvPr>
            <p:cNvSpPr txBox="1"/>
            <p:nvPr/>
          </p:nvSpPr>
          <p:spPr>
            <a:xfrm>
              <a:off x="809625" y="5299741"/>
              <a:ext cx="5086350" cy="94923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475569"/>
                  </a:solidFill>
                  <a:latin typeface="Plus Jakarta Sans"/>
                </a:rPr>
                <a:t>HEAT</a:t>
              </a:r>
              <a:r>
                <a:rPr lang="en-US" sz="1050" b="1" i="0" u="none" dirty="0">
                  <a:solidFill>
                    <a:srgbClr val="475569"/>
                  </a:solidFill>
                  <a:latin typeface="Plus Jakarta Sans"/>
                </a:rPr>
                <a:t>:</a:t>
              </a:r>
              <a:r>
                <a:rPr lang="en-US" sz="1050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en-US" sz="1050" dirty="0">
                  <a:solidFill>
                    <a:srgbClr val="475569"/>
                  </a:solidFill>
                  <a:latin typeface="Plus Jakarta Sans"/>
                </a:rPr>
                <a:t>Orchestration</a:t>
              </a:r>
              <a:r>
                <a:rPr dirty="0"/>
                <a:t>
</a:t>
              </a:r>
              <a:r>
                <a:rPr lang="en-US" sz="1050" b="1" dirty="0">
                  <a:solidFill>
                    <a:srgbClr val="475569"/>
                  </a:solidFill>
                  <a:latin typeface="Plus Jakarta Sans"/>
                </a:rPr>
                <a:t>MISTRAL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:</a:t>
              </a:r>
              <a:r>
                <a:rPr lang="en-US" sz="1050" dirty="0">
                  <a:solidFill>
                    <a:srgbClr val="475569"/>
                  </a:solidFill>
                  <a:latin typeface="Plus Jakarta Sans"/>
                </a:rPr>
                <a:t> Workflow 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Service</a:t>
              </a:r>
              <a:endParaRPr lang="en-US" sz="1050" b="0" i="0" u="none" dirty="0">
                <a:solidFill>
                  <a:srgbClr val="475569"/>
                </a:solidFill>
                <a:latin typeface="Plus Jakarta Sans"/>
              </a:endParaRPr>
            </a:p>
            <a:p>
              <a:pPr algn="l">
                <a:lnSpc>
                  <a:spcPts val="1470"/>
                </a:lnSpc>
              </a:pPr>
              <a:r>
                <a:rPr lang="en-US" sz="1050" b="1" i="0" u="none" dirty="0">
                  <a:solidFill>
                    <a:srgbClr val="475569"/>
                  </a:solidFill>
                  <a:latin typeface="Plus Jakarta Sans"/>
                </a:rPr>
                <a:t>ZAQAR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en-US" sz="1050" b="0" i="0" u="none" dirty="0">
                  <a:solidFill>
                    <a:srgbClr val="475569"/>
                  </a:solidFill>
                  <a:latin typeface="Plus Jakarta Sans"/>
                </a:rPr>
                <a:t>Messaging Service</a:t>
              </a:r>
            </a:p>
            <a:p>
              <a:pPr algn="l">
                <a:lnSpc>
                  <a:spcPts val="1470"/>
                </a:lnSpc>
              </a:pPr>
              <a:r>
                <a:rPr lang="en-US" sz="1050" b="1" i="0" u="none" dirty="0">
                  <a:solidFill>
                    <a:srgbClr val="475569"/>
                  </a:solidFill>
                  <a:latin typeface="Plus Jakarta Sans"/>
                </a:rPr>
                <a:t>BLAZAR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:</a:t>
              </a:r>
              <a:r>
                <a:rPr lang="en-US" sz="1050" b="0" i="0" u="none" dirty="0">
                  <a:solidFill>
                    <a:srgbClr val="475569"/>
                  </a:solidFill>
                  <a:latin typeface="Plus Jakarta Sans"/>
                </a:rPr>
                <a:t> Resource Reserving Service</a:t>
              </a:r>
            </a:p>
            <a:p>
              <a:pPr algn="l">
                <a:lnSpc>
                  <a:spcPts val="1470"/>
                </a:lnSpc>
              </a:pPr>
              <a:r>
                <a:rPr lang="en-US" sz="1050" b="1" i="0" u="none" dirty="0">
                  <a:solidFill>
                    <a:srgbClr val="475569"/>
                  </a:solidFill>
                  <a:latin typeface="Plus Jakarta Sans"/>
                </a:rPr>
                <a:t>AODH: </a:t>
              </a:r>
              <a:r>
                <a:rPr lang="en-US" sz="1050" i="0" u="none" dirty="0">
                  <a:solidFill>
                    <a:srgbClr val="475569"/>
                  </a:solidFill>
                  <a:latin typeface="Plus Jakarta Sans"/>
                </a:rPr>
                <a:t>Alarming Service</a:t>
              </a:r>
              <a:endParaRPr sz="1050" b="1" i="0" u="none" dirty="0">
                <a:solidFill>
                  <a:srgbClr val="475569"/>
                </a:solidFill>
                <a:latin typeface="Plus Jakarta Sans"/>
              </a:endParaRPr>
            </a:p>
          </p:txBody>
        </p:sp>
        <p:pic>
          <p:nvPicPr>
            <p:cNvPr id="45" name="Picture 44" descr="image.png">
              <a:extLst>
                <a:ext uri="{FF2B5EF4-FFF2-40B4-BE49-F238E27FC236}">
                  <a16:creationId xmlns:a16="http://schemas.microsoft.com/office/drawing/2014/main" id="{D44AD399-ECE2-56E7-7787-3B39F902A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3058" y="5029867"/>
              <a:ext cx="219075" cy="190500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96C9A57-D5C8-0198-D9E6-BD5958B7FB91}"/>
              </a:ext>
            </a:extLst>
          </p:cNvPr>
          <p:cNvGrpSpPr/>
          <p:nvPr/>
        </p:nvGrpSpPr>
        <p:grpSpPr>
          <a:xfrm>
            <a:off x="6073776" y="4204610"/>
            <a:ext cx="5391150" cy="876687"/>
            <a:chOff x="6191250" y="4931446"/>
            <a:chExt cx="5391150" cy="876687"/>
          </a:xfrm>
        </p:grpSpPr>
        <p:sp>
          <p:nvSpPr>
            <p:cNvPr id="12" name="Rounded Rectangle 3">
              <a:extLst>
                <a:ext uri="{FF2B5EF4-FFF2-40B4-BE49-F238E27FC236}">
                  <a16:creationId xmlns:a16="http://schemas.microsoft.com/office/drawing/2014/main" id="{C5FA73EB-679F-C003-7961-F207830A2831}"/>
                </a:ext>
              </a:extLst>
            </p:cNvPr>
            <p:cNvSpPr/>
            <p:nvPr/>
          </p:nvSpPr>
          <p:spPr>
            <a:xfrm>
              <a:off x="6191250" y="4931446"/>
              <a:ext cx="5391150" cy="876687"/>
            </a:xfrm>
            <a:prstGeom prst="roundRect">
              <a:avLst>
                <a:gd name="adj" fmla="val 792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8D449853-CEE5-FF44-6340-CDC2244BA94D}"/>
                </a:ext>
              </a:extLst>
            </p:cNvPr>
            <p:cNvSpPr txBox="1"/>
            <p:nvPr/>
          </p:nvSpPr>
          <p:spPr>
            <a:xfrm>
              <a:off x="6619875" y="5035530"/>
              <a:ext cx="1624099" cy="20774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350" b="1" i="0" u="none" dirty="0">
                  <a:solidFill>
                    <a:srgbClr val="0F172A"/>
                  </a:solidFill>
                  <a:latin typeface="Plus Jakarta Sans"/>
                </a:rPr>
                <a:t>Workload Provisioning</a:t>
              </a:r>
              <a:endParaRPr sz="135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8F17999A-6DF5-4CF1-1DFB-F227E4ED7AE0}"/>
                </a:ext>
              </a:extLst>
            </p:cNvPr>
            <p:cNvSpPr txBox="1"/>
            <p:nvPr/>
          </p:nvSpPr>
          <p:spPr>
            <a:xfrm>
              <a:off x="6391275" y="5325142"/>
              <a:ext cx="5086350" cy="3721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475569"/>
                  </a:solidFill>
                  <a:latin typeface="Plus Jakarta Sans"/>
                </a:rPr>
                <a:t>MAGNUM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en-US" sz="1050" b="0" i="0" u="none" dirty="0">
                  <a:solidFill>
                    <a:srgbClr val="475569"/>
                  </a:solidFill>
                  <a:latin typeface="Plus Jakarta Sans"/>
                </a:rPr>
                <a:t>Container Orchestration Engine Provisioning</a:t>
              </a:r>
            </a:p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475569"/>
                  </a:solidFill>
                  <a:latin typeface="Plus Jakarta Sans"/>
                </a:rPr>
                <a:t>TROVE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pt-BR" sz="1050" b="0" i="0" u="none" dirty="0">
                  <a:solidFill>
                    <a:srgbClr val="475569"/>
                  </a:solidFill>
                  <a:latin typeface="Plus Jakarta Sans"/>
                </a:rPr>
                <a:t>Database as a Service (DBaaS)</a:t>
              </a:r>
            </a:p>
          </p:txBody>
        </p:sp>
        <p:pic>
          <p:nvPicPr>
            <p:cNvPr id="47" name="Picture 46" descr="image.png">
              <a:extLst>
                <a:ext uri="{FF2B5EF4-FFF2-40B4-BE49-F238E27FC236}">
                  <a16:creationId xmlns:a16="http://schemas.microsoft.com/office/drawing/2014/main" id="{82EBC3AD-43A7-C215-1A8C-3A59329AF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38887" y="5039392"/>
              <a:ext cx="219075" cy="1905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93DE124-6CED-AC21-7174-0E434B8A62E7}"/>
              </a:ext>
            </a:extLst>
          </p:cNvPr>
          <p:cNvGrpSpPr/>
          <p:nvPr/>
        </p:nvGrpSpPr>
        <p:grpSpPr>
          <a:xfrm>
            <a:off x="6064251" y="5147671"/>
            <a:ext cx="5391150" cy="836932"/>
            <a:chOff x="621269" y="5546936"/>
            <a:chExt cx="5391150" cy="836932"/>
          </a:xfrm>
        </p:grpSpPr>
        <p:sp>
          <p:nvSpPr>
            <p:cNvPr id="14" name="Rounded Rectangle 4">
              <a:extLst>
                <a:ext uri="{FF2B5EF4-FFF2-40B4-BE49-F238E27FC236}">
                  <a16:creationId xmlns:a16="http://schemas.microsoft.com/office/drawing/2014/main" id="{5D3FA7F9-290F-BBD7-9170-15F3F22EC676}"/>
                </a:ext>
              </a:extLst>
            </p:cNvPr>
            <p:cNvSpPr/>
            <p:nvPr/>
          </p:nvSpPr>
          <p:spPr>
            <a:xfrm>
              <a:off x="621269" y="5546936"/>
              <a:ext cx="5391150" cy="836932"/>
            </a:xfrm>
            <a:prstGeom prst="roundRect">
              <a:avLst>
                <a:gd name="adj" fmla="val 792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2" name="TextBox 19">
              <a:extLst>
                <a:ext uri="{FF2B5EF4-FFF2-40B4-BE49-F238E27FC236}">
                  <a16:creationId xmlns:a16="http://schemas.microsoft.com/office/drawing/2014/main" id="{93D3BFFB-DBDE-B0F9-3729-B863729B90CA}"/>
                </a:ext>
              </a:extLst>
            </p:cNvPr>
            <p:cNvSpPr txBox="1"/>
            <p:nvPr/>
          </p:nvSpPr>
          <p:spPr>
            <a:xfrm>
              <a:off x="1116569" y="5620417"/>
              <a:ext cx="1466940" cy="20774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350" b="1" i="0" u="none" dirty="0">
                  <a:solidFill>
                    <a:srgbClr val="0F172A"/>
                  </a:solidFill>
                  <a:latin typeface="Plus Jakarta Sans"/>
                </a:rPr>
                <a:t>Application Lifecycle</a:t>
              </a:r>
              <a:endParaRPr sz="135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36" name="TextBox 20">
              <a:extLst>
                <a:ext uri="{FF2B5EF4-FFF2-40B4-BE49-F238E27FC236}">
                  <a16:creationId xmlns:a16="http://schemas.microsoft.com/office/drawing/2014/main" id="{A2CC95CF-EAE0-2A3D-6D41-13E6828052CA}"/>
                </a:ext>
              </a:extLst>
            </p:cNvPr>
            <p:cNvSpPr txBox="1"/>
            <p:nvPr/>
          </p:nvSpPr>
          <p:spPr>
            <a:xfrm>
              <a:off x="821294" y="5910029"/>
              <a:ext cx="5086350" cy="3721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470"/>
                </a:lnSpc>
              </a:pPr>
              <a:r>
                <a:rPr lang="en-US" sz="1050" b="1" i="0" u="none" dirty="0">
                  <a:solidFill>
                    <a:srgbClr val="475569"/>
                  </a:solidFill>
                  <a:latin typeface="Plus Jakarta Sans"/>
                </a:rPr>
                <a:t>FREEZER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en-US" sz="1050" b="0" i="0" u="none" dirty="0">
                  <a:solidFill>
                    <a:srgbClr val="475569"/>
                  </a:solidFill>
                  <a:latin typeface="Plus Jakarta Sans"/>
                </a:rPr>
                <a:t>Backup and Restore Service</a:t>
              </a:r>
            </a:p>
            <a:p>
              <a:pPr algn="l">
                <a:lnSpc>
                  <a:spcPts val="1470"/>
                </a:lnSpc>
              </a:pPr>
              <a:r>
                <a:rPr lang="en-US" sz="1050" b="1" i="0" u="none" dirty="0">
                  <a:solidFill>
                    <a:srgbClr val="475569"/>
                  </a:solidFill>
                  <a:latin typeface="Plus Jakarta Sans"/>
                </a:rPr>
                <a:t>MASAKARI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en-US" sz="1050" b="0" i="0" u="none" dirty="0">
                  <a:solidFill>
                    <a:srgbClr val="475569"/>
                  </a:solidFill>
                  <a:latin typeface="Plus Jakarta Sans"/>
                </a:rPr>
                <a:t>Instances High Availability Service</a:t>
              </a:r>
            </a:p>
          </p:txBody>
        </p:sp>
        <p:pic>
          <p:nvPicPr>
            <p:cNvPr id="49" name="Picture 48" descr="image.png">
              <a:extLst>
                <a:ext uri="{FF2B5EF4-FFF2-40B4-BE49-F238E27FC236}">
                  <a16:creationId xmlns:a16="http://schemas.microsoft.com/office/drawing/2014/main" id="{5A0E8AD5-8FC4-8BE3-12C1-1BBEBA7F7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8010" y="5661517"/>
              <a:ext cx="190500" cy="1905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AA2D58E-AA70-1646-A27E-97184258648E}"/>
              </a:ext>
            </a:extLst>
          </p:cNvPr>
          <p:cNvGrpSpPr/>
          <p:nvPr/>
        </p:nvGrpSpPr>
        <p:grpSpPr>
          <a:xfrm>
            <a:off x="577056" y="5121779"/>
            <a:ext cx="5391150" cy="838934"/>
            <a:chOff x="6143625" y="4995403"/>
            <a:chExt cx="5391150" cy="838934"/>
          </a:xfrm>
        </p:grpSpPr>
        <p:sp>
          <p:nvSpPr>
            <p:cNvPr id="16" name="Rounded Rectangle 5">
              <a:extLst>
                <a:ext uri="{FF2B5EF4-FFF2-40B4-BE49-F238E27FC236}">
                  <a16:creationId xmlns:a16="http://schemas.microsoft.com/office/drawing/2014/main" id="{3F1C1AEE-F071-4469-903F-9CBA765C030F}"/>
                </a:ext>
              </a:extLst>
            </p:cNvPr>
            <p:cNvSpPr/>
            <p:nvPr/>
          </p:nvSpPr>
          <p:spPr>
            <a:xfrm>
              <a:off x="6143625" y="4995403"/>
              <a:ext cx="5391150" cy="838934"/>
            </a:xfrm>
            <a:prstGeom prst="roundRect">
              <a:avLst>
                <a:gd name="adj" fmla="val 792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40" name="TextBox 21">
              <a:extLst>
                <a:ext uri="{FF2B5EF4-FFF2-40B4-BE49-F238E27FC236}">
                  <a16:creationId xmlns:a16="http://schemas.microsoft.com/office/drawing/2014/main" id="{2EE7D400-EECD-B4E8-4B99-DDFE9D7D8DD2}"/>
                </a:ext>
              </a:extLst>
            </p:cNvPr>
            <p:cNvSpPr txBox="1"/>
            <p:nvPr/>
          </p:nvSpPr>
          <p:spPr>
            <a:xfrm>
              <a:off x="6591300" y="5061734"/>
              <a:ext cx="1090876" cy="20774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350" b="1" i="0" u="none" dirty="0">
                  <a:solidFill>
                    <a:srgbClr val="0F172A"/>
                  </a:solidFill>
                  <a:latin typeface="Plus Jakarta Sans"/>
                </a:rPr>
                <a:t>Web Frontends</a:t>
              </a:r>
              <a:endParaRPr sz="135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43" name="TextBox 22">
              <a:extLst>
                <a:ext uri="{FF2B5EF4-FFF2-40B4-BE49-F238E27FC236}">
                  <a16:creationId xmlns:a16="http://schemas.microsoft.com/office/drawing/2014/main" id="{3D1EE5D7-7206-A98A-E614-B2093FFA77D5}"/>
                </a:ext>
              </a:extLst>
            </p:cNvPr>
            <p:cNvSpPr txBox="1"/>
            <p:nvPr/>
          </p:nvSpPr>
          <p:spPr>
            <a:xfrm>
              <a:off x="6343650" y="5351346"/>
              <a:ext cx="5086350" cy="3721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470"/>
                </a:lnSpc>
              </a:pPr>
              <a:r>
                <a:rPr lang="en-US" sz="1050" b="1" i="0" u="none" dirty="0">
                  <a:solidFill>
                    <a:srgbClr val="475569"/>
                  </a:solidFill>
                  <a:latin typeface="Plus Jakarta Sans"/>
                </a:rPr>
                <a:t>HORIZON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en-US" sz="1050" b="0" i="0" u="none" dirty="0">
                  <a:solidFill>
                    <a:srgbClr val="475569"/>
                  </a:solidFill>
                  <a:latin typeface="Plus Jakarta Sans"/>
                </a:rPr>
                <a:t>OpenStack Dashboard Web Interface</a:t>
              </a:r>
            </a:p>
            <a:p>
              <a:pPr algn="l">
                <a:lnSpc>
                  <a:spcPts val="1470"/>
                </a:lnSpc>
              </a:pPr>
              <a:r>
                <a:rPr lang="en-US" sz="1050" b="1" i="0" u="none" dirty="0">
                  <a:solidFill>
                    <a:srgbClr val="475569"/>
                  </a:solidFill>
                  <a:latin typeface="Plus Jakarta Sans"/>
                </a:rPr>
                <a:t>SKYLINE</a:t>
              </a:r>
              <a:r>
                <a:rPr sz="1050" b="1" i="0" u="none" dirty="0">
                  <a:solidFill>
                    <a:srgbClr val="475569"/>
                  </a:solidFill>
                  <a:latin typeface="Plus Jakarta Sans"/>
                </a:rPr>
                <a:t>:</a:t>
              </a:r>
              <a:r>
                <a:rPr sz="1050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en-US" sz="1050" b="0" i="0" u="none" dirty="0">
                  <a:solidFill>
                    <a:srgbClr val="475569"/>
                  </a:solidFill>
                  <a:latin typeface="Plus Jakarta Sans"/>
                </a:rPr>
                <a:t>Next Generation Dashboard</a:t>
              </a:r>
            </a:p>
          </p:txBody>
        </p:sp>
        <p:pic>
          <p:nvPicPr>
            <p:cNvPr id="51" name="Picture 50" descr="image.png">
              <a:extLst>
                <a:ext uri="{FF2B5EF4-FFF2-40B4-BE49-F238E27FC236}">
                  <a16:creationId xmlns:a16="http://schemas.microsoft.com/office/drawing/2014/main" id="{DD1C5F43-39E6-6517-5298-F07E53310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291262" y="5078983"/>
              <a:ext cx="219075" cy="190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2373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D4E60-B5AB-AAED-6684-47556F05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1132-8B37-4F68-4019-8BAD1EA0A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OpenStack Services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C7CCE-4689-1A46-74CF-FB7A007431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991600" y="10048"/>
            <a:ext cx="3200400" cy="1273491"/>
          </a:xfrm>
          <a:prstGeom prst="rect">
            <a:avLst/>
          </a:prstGeom>
        </p:spPr>
      </p:pic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49776A71-6875-9B7D-9944-B2C644FA02A0}"/>
              </a:ext>
            </a:extLst>
          </p:cNvPr>
          <p:cNvSpPr/>
          <p:nvPr/>
        </p:nvSpPr>
        <p:spPr>
          <a:xfrm>
            <a:off x="762000" y="1421010"/>
            <a:ext cx="5181600" cy="4303514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1" name="Rounded Rectangle 3">
            <a:extLst>
              <a:ext uri="{FF2B5EF4-FFF2-40B4-BE49-F238E27FC236}">
                <a16:creationId xmlns:a16="http://schemas.microsoft.com/office/drawing/2014/main" id="{97F18B4A-9F62-5B2C-F0A8-F7809E7351BC}"/>
              </a:ext>
            </a:extLst>
          </p:cNvPr>
          <p:cNvSpPr/>
          <p:nvPr/>
        </p:nvSpPr>
        <p:spPr>
          <a:xfrm>
            <a:off x="6248400" y="1421010"/>
            <a:ext cx="5181600" cy="4303514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17757F4-976C-8FBF-65B9-7B597AE64FC5}"/>
              </a:ext>
            </a:extLst>
          </p:cNvPr>
          <p:cNvSpPr/>
          <p:nvPr/>
        </p:nvSpPr>
        <p:spPr>
          <a:xfrm>
            <a:off x="762000" y="5991225"/>
            <a:ext cx="10668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5">
            <a:extLst>
              <a:ext uri="{FF2B5EF4-FFF2-40B4-BE49-F238E27FC236}">
                <a16:creationId xmlns:a16="http://schemas.microsoft.com/office/drawing/2014/main" id="{3CD8BAA7-7775-78DB-DC17-17C1224C71A2}"/>
              </a:ext>
            </a:extLst>
          </p:cNvPr>
          <p:cNvSpPr/>
          <p:nvPr/>
        </p:nvSpPr>
        <p:spPr>
          <a:xfrm>
            <a:off x="1076325" y="2753617"/>
            <a:ext cx="4552950" cy="1076325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6">
            <a:extLst>
              <a:ext uri="{FF2B5EF4-FFF2-40B4-BE49-F238E27FC236}">
                <a16:creationId xmlns:a16="http://schemas.microsoft.com/office/drawing/2014/main" id="{2985E9C7-8F50-F6CE-C4E1-DB660FAE514C}"/>
              </a:ext>
            </a:extLst>
          </p:cNvPr>
          <p:cNvSpPr/>
          <p:nvPr/>
        </p:nvSpPr>
        <p:spPr>
          <a:xfrm>
            <a:off x="1076325" y="4020442"/>
            <a:ext cx="4552950" cy="1261431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7">
            <a:extLst>
              <a:ext uri="{FF2B5EF4-FFF2-40B4-BE49-F238E27FC236}">
                <a16:creationId xmlns:a16="http://schemas.microsoft.com/office/drawing/2014/main" id="{E97FA39B-8E1E-F8FC-583A-0F76A54D5503}"/>
              </a:ext>
            </a:extLst>
          </p:cNvPr>
          <p:cNvSpPr/>
          <p:nvPr/>
        </p:nvSpPr>
        <p:spPr>
          <a:xfrm>
            <a:off x="6562725" y="2474212"/>
            <a:ext cx="4552950" cy="1402029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8">
            <a:extLst>
              <a:ext uri="{FF2B5EF4-FFF2-40B4-BE49-F238E27FC236}">
                <a16:creationId xmlns:a16="http://schemas.microsoft.com/office/drawing/2014/main" id="{2B959DD8-1810-62F1-A41E-F1C8B80F030E}"/>
              </a:ext>
            </a:extLst>
          </p:cNvPr>
          <p:cNvSpPr/>
          <p:nvPr/>
        </p:nvSpPr>
        <p:spPr>
          <a:xfrm>
            <a:off x="6562725" y="4020442"/>
            <a:ext cx="4552950" cy="1261431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3" name="Picture 112" descr="image.png">
            <a:extLst>
              <a:ext uri="{FF2B5EF4-FFF2-40B4-BE49-F238E27FC236}">
                <a16:creationId xmlns:a16="http://schemas.microsoft.com/office/drawing/2014/main" id="{0A198E60-EF3A-063C-91E5-06201331C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1735335"/>
            <a:ext cx="381000" cy="381000"/>
          </a:xfrm>
          <a:prstGeom prst="rect">
            <a:avLst/>
          </a:prstGeom>
        </p:spPr>
      </p:pic>
      <p:pic>
        <p:nvPicPr>
          <p:cNvPr id="115" name="Picture 114" descr="image.png">
            <a:extLst>
              <a:ext uri="{FF2B5EF4-FFF2-40B4-BE49-F238E27FC236}">
                <a16:creationId xmlns:a16="http://schemas.microsoft.com/office/drawing/2014/main" id="{21F59547-03E6-A8C5-DEAB-453088F0E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1735335"/>
            <a:ext cx="381000" cy="381000"/>
          </a:xfrm>
          <a:prstGeom prst="rect">
            <a:avLst/>
          </a:prstGeom>
        </p:spPr>
      </p:pic>
      <p:pic>
        <p:nvPicPr>
          <p:cNvPr id="117" name="Picture 116" descr="image.png">
            <a:extLst>
              <a:ext uri="{FF2B5EF4-FFF2-40B4-BE49-F238E27FC236}">
                <a16:creationId xmlns:a16="http://schemas.microsoft.com/office/drawing/2014/main" id="{D3404FEA-A424-EA84-81B9-F4B424FAC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575" y="1830585"/>
            <a:ext cx="190500" cy="190500"/>
          </a:xfrm>
          <a:prstGeom prst="rect">
            <a:avLst/>
          </a:prstGeom>
        </p:spPr>
      </p:pic>
      <p:pic>
        <p:nvPicPr>
          <p:cNvPr id="119" name="Picture 118" descr="image.png">
            <a:extLst>
              <a:ext uri="{FF2B5EF4-FFF2-40B4-BE49-F238E27FC236}">
                <a16:creationId xmlns:a16="http://schemas.microsoft.com/office/drawing/2014/main" id="{8FE975A0-9A5A-9D41-4DA6-CDC90BBB5B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6350" y="2953642"/>
            <a:ext cx="419100" cy="419100"/>
          </a:xfrm>
          <a:prstGeom prst="rect">
            <a:avLst/>
          </a:prstGeom>
        </p:spPr>
      </p:pic>
      <p:pic>
        <p:nvPicPr>
          <p:cNvPr id="121" name="Picture 120" descr="image.png">
            <a:extLst>
              <a:ext uri="{FF2B5EF4-FFF2-40B4-BE49-F238E27FC236}">
                <a16:creationId xmlns:a16="http://schemas.microsoft.com/office/drawing/2014/main" id="{E2B6ED68-8022-1C6D-0994-F702190399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6350" y="4220467"/>
            <a:ext cx="419100" cy="419100"/>
          </a:xfrm>
          <a:prstGeom prst="rect">
            <a:avLst/>
          </a:prstGeom>
        </p:spPr>
      </p:pic>
      <p:pic>
        <p:nvPicPr>
          <p:cNvPr id="123" name="Picture 122" descr="image.png">
            <a:extLst>
              <a:ext uri="{FF2B5EF4-FFF2-40B4-BE49-F238E27FC236}">
                <a16:creationId xmlns:a16="http://schemas.microsoft.com/office/drawing/2014/main" id="{18E944E3-838E-25B5-170F-738B706B06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4162" y="1830585"/>
            <a:ext cx="238125" cy="190500"/>
          </a:xfrm>
          <a:prstGeom prst="rect">
            <a:avLst/>
          </a:prstGeom>
        </p:spPr>
      </p:pic>
      <p:pic>
        <p:nvPicPr>
          <p:cNvPr id="125" name="Picture 124" descr="image.png">
            <a:extLst>
              <a:ext uri="{FF2B5EF4-FFF2-40B4-BE49-F238E27FC236}">
                <a16:creationId xmlns:a16="http://schemas.microsoft.com/office/drawing/2014/main" id="{9E3A9906-43EE-19B8-7DEA-2E725CCECB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0" y="2665773"/>
            <a:ext cx="419100" cy="419100"/>
          </a:xfrm>
          <a:prstGeom prst="rect">
            <a:avLst/>
          </a:prstGeom>
        </p:spPr>
      </p:pic>
      <p:pic>
        <p:nvPicPr>
          <p:cNvPr id="127" name="Picture 126" descr="image.png">
            <a:extLst>
              <a:ext uri="{FF2B5EF4-FFF2-40B4-BE49-F238E27FC236}">
                <a16:creationId xmlns:a16="http://schemas.microsoft.com/office/drawing/2014/main" id="{B048432E-58BA-67CA-B1AE-E198421FAC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0" y="4220467"/>
            <a:ext cx="419100" cy="419100"/>
          </a:xfrm>
          <a:prstGeom prst="rect">
            <a:avLst/>
          </a:prstGeom>
        </p:spPr>
      </p:pic>
      <p:pic>
        <p:nvPicPr>
          <p:cNvPr id="129" name="Picture 128" descr="image.png">
            <a:extLst>
              <a:ext uri="{FF2B5EF4-FFF2-40B4-BE49-F238E27FC236}">
                <a16:creationId xmlns:a16="http://schemas.microsoft.com/office/drawing/2014/main" id="{3CF0E69D-414F-289B-B06C-0E0DFD1DAD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0650" y="3067942"/>
            <a:ext cx="190500" cy="190500"/>
          </a:xfrm>
          <a:prstGeom prst="rect">
            <a:avLst/>
          </a:prstGeom>
        </p:spPr>
      </p:pic>
      <p:pic>
        <p:nvPicPr>
          <p:cNvPr id="131" name="Picture 130" descr="image.png">
            <a:extLst>
              <a:ext uri="{FF2B5EF4-FFF2-40B4-BE49-F238E27FC236}">
                <a16:creationId xmlns:a16="http://schemas.microsoft.com/office/drawing/2014/main" id="{B09DF405-C365-F033-BFD3-ED536C20EA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00175" y="4334767"/>
            <a:ext cx="171450" cy="190500"/>
          </a:xfrm>
          <a:prstGeom prst="rect">
            <a:avLst/>
          </a:prstGeom>
        </p:spPr>
      </p:pic>
      <p:pic>
        <p:nvPicPr>
          <p:cNvPr id="133" name="Picture 132" descr="image.png">
            <a:extLst>
              <a:ext uri="{FF2B5EF4-FFF2-40B4-BE49-F238E27FC236}">
                <a16:creationId xmlns:a16="http://schemas.microsoft.com/office/drawing/2014/main" id="{ADFCC4D1-A109-22A0-7694-BF96BB606C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77050" y="2788537"/>
            <a:ext cx="190500" cy="190500"/>
          </a:xfrm>
          <a:prstGeom prst="rect">
            <a:avLst/>
          </a:prstGeom>
        </p:spPr>
      </p:pic>
      <p:pic>
        <p:nvPicPr>
          <p:cNvPr id="135" name="Picture 134" descr="image.png">
            <a:extLst>
              <a:ext uri="{FF2B5EF4-FFF2-40B4-BE49-F238E27FC236}">
                <a16:creationId xmlns:a16="http://schemas.microsoft.com/office/drawing/2014/main" id="{F6A4C350-0199-E3DE-21CE-1A059589E82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86575" y="4334767"/>
            <a:ext cx="171450" cy="190500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CE2F6BA5-CCF0-0986-3405-3C354517241B}"/>
              </a:ext>
            </a:extLst>
          </p:cNvPr>
          <p:cNvSpPr txBox="1"/>
          <p:nvPr/>
        </p:nvSpPr>
        <p:spPr>
          <a:xfrm>
            <a:off x="1571625" y="1792485"/>
            <a:ext cx="131016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Compute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BD1429F-E8E7-1D9F-4C6F-8B02A70F37EF}"/>
              </a:ext>
            </a:extLst>
          </p:cNvPr>
          <p:cNvSpPr txBox="1"/>
          <p:nvPr/>
        </p:nvSpPr>
        <p:spPr>
          <a:xfrm>
            <a:off x="7058025" y="1792485"/>
            <a:ext cx="26003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Hardware Lifecycle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A0132BE-ED65-A275-34DF-A6BE465F164E}"/>
              </a:ext>
            </a:extLst>
          </p:cNvPr>
          <p:cNvSpPr txBox="1"/>
          <p:nvPr/>
        </p:nvSpPr>
        <p:spPr>
          <a:xfrm>
            <a:off x="1847850" y="2953642"/>
            <a:ext cx="47005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NOVA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C5F85CD-6DFE-7A26-A7D5-03BFC8ADBFCE}"/>
              </a:ext>
            </a:extLst>
          </p:cNvPr>
          <p:cNvSpPr txBox="1"/>
          <p:nvPr/>
        </p:nvSpPr>
        <p:spPr>
          <a:xfrm>
            <a:off x="1847850" y="3229867"/>
            <a:ext cx="3676650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Compute Service —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Nova is the OpenStack compute service responsible for provisioning and managing large-scale, on-demand virtual machines and instances across hypervisors.</a:t>
            </a:r>
            <a:endParaRPr sz="1125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06D3F95-C10A-3B70-BB1A-F0F025A5C172}"/>
              </a:ext>
            </a:extLst>
          </p:cNvPr>
          <p:cNvSpPr txBox="1"/>
          <p:nvPr/>
        </p:nvSpPr>
        <p:spPr>
          <a:xfrm>
            <a:off x="1847850" y="4220467"/>
            <a:ext cx="47005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ZUN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4374F5A-DB76-F2BD-2E1F-49008C82A1BB}"/>
              </a:ext>
            </a:extLst>
          </p:cNvPr>
          <p:cNvSpPr txBox="1"/>
          <p:nvPr/>
        </p:nvSpPr>
        <p:spPr>
          <a:xfrm>
            <a:off x="1847850" y="4496692"/>
            <a:ext cx="3676650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Containers Service —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Provides an API for launching and managing containers as first-class resources, seamlessly integrating with Neutron networks and Cinder volumes.</a:t>
            </a:r>
            <a:endParaRPr sz="1125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5E8D979-A5ED-79BB-9E86-C2D1AE3EAA3F}"/>
              </a:ext>
            </a:extLst>
          </p:cNvPr>
          <p:cNvSpPr txBox="1"/>
          <p:nvPr/>
        </p:nvSpPr>
        <p:spPr>
          <a:xfrm>
            <a:off x="7334250" y="2674237"/>
            <a:ext cx="47005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IRONIC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BD9B33F-71F5-A24C-BB7F-F36592F19E59}"/>
              </a:ext>
            </a:extLst>
          </p:cNvPr>
          <p:cNvSpPr txBox="1"/>
          <p:nvPr/>
        </p:nvSpPr>
        <p:spPr>
          <a:xfrm>
            <a:off x="7334250" y="2950462"/>
            <a:ext cx="3676650" cy="8075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Bare Metal Provisioning Service —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Provisions and manages physical hardware (bare metal servers) rather than virtual machines, providing full control over the physical infrastructure.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023941A-A849-9993-4EF0-A4D744224743}"/>
              </a:ext>
            </a:extLst>
          </p:cNvPr>
          <p:cNvSpPr txBox="1"/>
          <p:nvPr/>
        </p:nvSpPr>
        <p:spPr>
          <a:xfrm>
            <a:off x="7334250" y="4220467"/>
            <a:ext cx="47005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CYBORG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5D4EEA5-AA07-8891-340A-1F3A6115D8A7}"/>
              </a:ext>
            </a:extLst>
          </p:cNvPr>
          <p:cNvSpPr txBox="1"/>
          <p:nvPr/>
        </p:nvSpPr>
        <p:spPr>
          <a:xfrm>
            <a:off x="7334250" y="4496692"/>
            <a:ext cx="367665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Lifecycle Management of Accelerators - Provides lifecycle management for hardware accelerators such as GPUs, FPGAs, and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SmartNICs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, enabling them to be attached and utilized by virtual machines or bare-metal instances.</a:t>
            </a:r>
            <a:endParaRPr sz="1125" b="0" i="0" u="none" dirty="0">
              <a:solidFill>
                <a:srgbClr val="475569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657865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17AD5-F72E-1E11-92E7-9C24C7C49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FF1D-982B-5129-DC2F-68A3B3499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OpenStack Services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67DD25-DAA1-C0BF-5919-A23134F246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991600" y="10048"/>
            <a:ext cx="3200400" cy="1273491"/>
          </a:xfrm>
          <a:prstGeom prst="rect">
            <a:avLst/>
          </a:prstGeom>
        </p:spPr>
      </p:pic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D7872DC7-EF42-3CD8-F78A-98647A670767}"/>
              </a:ext>
            </a:extLst>
          </p:cNvPr>
          <p:cNvSpPr/>
          <p:nvPr/>
        </p:nvSpPr>
        <p:spPr>
          <a:xfrm>
            <a:off x="762000" y="1421010"/>
            <a:ext cx="5181600" cy="4444008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7A7360B-7096-BB96-D49F-DB8DB7F11114}"/>
              </a:ext>
            </a:extLst>
          </p:cNvPr>
          <p:cNvSpPr/>
          <p:nvPr/>
        </p:nvSpPr>
        <p:spPr>
          <a:xfrm>
            <a:off x="762000" y="5991225"/>
            <a:ext cx="10668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ED6875D-6E3B-00D4-3A62-B72A05220FE4}"/>
              </a:ext>
            </a:extLst>
          </p:cNvPr>
          <p:cNvSpPr txBox="1"/>
          <p:nvPr/>
        </p:nvSpPr>
        <p:spPr>
          <a:xfrm>
            <a:off x="1571625" y="1792485"/>
            <a:ext cx="664284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50" b="1" dirty="0">
                <a:solidFill>
                  <a:srgbClr val="0F172A"/>
                </a:solidFill>
                <a:latin typeface="Plus Jakarta Sans"/>
              </a:rPr>
              <a:t>Storage</a:t>
            </a:r>
            <a:endParaRPr sz="1650" b="1" i="0" u="none" dirty="0">
              <a:solidFill>
                <a:srgbClr val="0F172A"/>
              </a:solidFill>
              <a:latin typeface="Plus Jakarta San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65598CA-77ED-E6AE-A1A8-A831C25898E1}"/>
              </a:ext>
            </a:extLst>
          </p:cNvPr>
          <p:cNvGrpSpPr/>
          <p:nvPr/>
        </p:nvGrpSpPr>
        <p:grpSpPr>
          <a:xfrm>
            <a:off x="1076325" y="2254080"/>
            <a:ext cx="4552950" cy="1076325"/>
            <a:chOff x="1076325" y="2254080"/>
            <a:chExt cx="4552950" cy="1076325"/>
          </a:xfrm>
        </p:grpSpPr>
        <p:sp>
          <p:nvSpPr>
            <p:cNvPr id="105" name="Rounded Rectangle 5">
              <a:extLst>
                <a:ext uri="{FF2B5EF4-FFF2-40B4-BE49-F238E27FC236}">
                  <a16:creationId xmlns:a16="http://schemas.microsoft.com/office/drawing/2014/main" id="{F2535BDA-E256-933E-7B04-9ED9FFBF4749}"/>
                </a:ext>
              </a:extLst>
            </p:cNvPr>
            <p:cNvSpPr/>
            <p:nvPr/>
          </p:nvSpPr>
          <p:spPr>
            <a:xfrm>
              <a:off x="1076325" y="2254080"/>
              <a:ext cx="4552950" cy="1076325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CFE81F5E-8101-5EA0-2172-97483F74F7C8}"/>
                </a:ext>
              </a:extLst>
            </p:cNvPr>
            <p:cNvSpPr txBox="1"/>
            <p:nvPr/>
          </p:nvSpPr>
          <p:spPr>
            <a:xfrm>
              <a:off x="1847850" y="2454105"/>
              <a:ext cx="498726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i="0" u="none" dirty="0">
                  <a:solidFill>
                    <a:srgbClr val="0F172A"/>
                  </a:solidFill>
                  <a:latin typeface="Plus Jakarta Sans"/>
                </a:rPr>
                <a:t>SWIFT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5E83F233-D555-268C-6D76-A08CCC88F131}"/>
                </a:ext>
              </a:extLst>
            </p:cNvPr>
            <p:cNvSpPr txBox="1"/>
            <p:nvPr/>
          </p:nvSpPr>
          <p:spPr>
            <a:xfrm>
              <a:off x="1847850" y="2730330"/>
              <a:ext cx="3676650" cy="5116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1125" b="0" i="0" u="none" dirty="0">
                  <a:solidFill>
                    <a:srgbClr val="475569"/>
                  </a:solidFill>
                  <a:latin typeface="Plus Jakarta Sans"/>
                </a:rPr>
                <a:t>Object Store</a:t>
              </a:r>
              <a:r>
                <a:rPr lang="th-TH" sz="1125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sz="1125" b="0" i="0" u="none" dirty="0">
                  <a:solidFill>
                    <a:srgbClr val="475569"/>
                  </a:solidFill>
                  <a:latin typeface="Plus Jakarta Sans"/>
                </a:rPr>
                <a:t>—</a:t>
              </a:r>
              <a:r>
                <a:rPr lang="th-TH" sz="1125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en-US" sz="1100" dirty="0">
                  <a:solidFill>
                    <a:srgbClr val="475569"/>
                  </a:solidFill>
                  <a:latin typeface="Plus Jakarta Sans"/>
                </a:rPr>
                <a:t>O</a:t>
              </a:r>
              <a:r>
                <a:rPr lang="th-TH" sz="1100" dirty="0"/>
                <a:t>bject storage </a:t>
              </a:r>
              <a:r>
                <a:rPr lang="en-US" sz="1100" dirty="0">
                  <a:solidFill>
                    <a:srgbClr val="334155"/>
                  </a:solidFill>
                  <a:latin typeface="Plus Jakarta Sans"/>
                </a:rPr>
                <a:t>service designed to store and retrieve unstructured data massively and reliably across clusters using RESTful APIs.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EF2F5EC-753E-B78F-A62C-0555362B309F}"/>
              </a:ext>
            </a:extLst>
          </p:cNvPr>
          <p:cNvGrpSpPr/>
          <p:nvPr/>
        </p:nvGrpSpPr>
        <p:grpSpPr>
          <a:xfrm>
            <a:off x="1076325" y="4504295"/>
            <a:ext cx="4552950" cy="1360723"/>
            <a:chOff x="1076325" y="3427773"/>
            <a:chExt cx="4552950" cy="1360723"/>
          </a:xfrm>
        </p:grpSpPr>
        <p:sp>
          <p:nvSpPr>
            <p:cNvPr id="17" name="Rounded Rectangle 6">
              <a:extLst>
                <a:ext uri="{FF2B5EF4-FFF2-40B4-BE49-F238E27FC236}">
                  <a16:creationId xmlns:a16="http://schemas.microsoft.com/office/drawing/2014/main" id="{71AFFB6E-62D1-28BF-4341-F8297DA16B83}"/>
                </a:ext>
              </a:extLst>
            </p:cNvPr>
            <p:cNvSpPr/>
            <p:nvPr/>
          </p:nvSpPr>
          <p:spPr>
            <a:xfrm>
              <a:off x="1076325" y="3427773"/>
              <a:ext cx="4552950" cy="1234714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8BF8A44-E987-D1EC-A6C9-64C32AC443AB}"/>
                </a:ext>
              </a:extLst>
            </p:cNvPr>
            <p:cNvSpPr txBox="1"/>
            <p:nvPr/>
          </p:nvSpPr>
          <p:spPr>
            <a:xfrm>
              <a:off x="1847850" y="3627798"/>
              <a:ext cx="662041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MANILA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36F31C-C493-F61A-C566-619C51D20D92}"/>
                </a:ext>
              </a:extLst>
            </p:cNvPr>
            <p:cNvSpPr txBox="1"/>
            <p:nvPr/>
          </p:nvSpPr>
          <p:spPr>
            <a:xfrm>
              <a:off x="1847850" y="3904023"/>
              <a:ext cx="3676650" cy="88447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125" dirty="0">
                  <a:solidFill>
                    <a:srgbClr val="475569"/>
                  </a:solidFill>
                  <a:latin typeface="Plus Jakarta Sans"/>
                </a:rPr>
                <a:t>File Share </a:t>
              </a:r>
              <a:r>
                <a:rPr sz="1125" b="0" i="0" u="none" dirty="0">
                  <a:solidFill>
                    <a:srgbClr val="475569"/>
                  </a:solidFill>
                  <a:latin typeface="Plus Jakarta Sans"/>
                </a:rPr>
                <a:t>—</a:t>
              </a:r>
              <a:r>
                <a:rPr lang="th-TH" sz="1125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en-US" sz="1125" b="0" i="0" u="none" dirty="0">
                  <a:solidFill>
                    <a:srgbClr val="475569"/>
                  </a:solidFill>
                  <a:latin typeface="Plus Jakarta Sans"/>
                </a:rPr>
                <a:t>that provides scalable, multi-tenant file storage (such as NFS and CIFS/SMB) allowing multiple compute instances to simultaneously access, read, and write to the same shared directory.</a:t>
              </a:r>
            </a:p>
            <a:p>
              <a:pPr algn="l">
                <a:lnSpc>
                  <a:spcPts val="1575"/>
                </a:lnSpc>
              </a:pPr>
              <a:r>
                <a:rPr sz="1125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B93D42-86C3-E30C-5B4E-17458E8063BB}"/>
              </a:ext>
            </a:extLst>
          </p:cNvPr>
          <p:cNvGrpSpPr/>
          <p:nvPr/>
        </p:nvGrpSpPr>
        <p:grpSpPr>
          <a:xfrm>
            <a:off x="1076325" y="3378395"/>
            <a:ext cx="4552950" cy="1076325"/>
            <a:chOff x="1076325" y="3427773"/>
            <a:chExt cx="4552950" cy="1076325"/>
          </a:xfrm>
        </p:grpSpPr>
        <p:sp>
          <p:nvSpPr>
            <p:cNvPr id="107" name="Rounded Rectangle 6">
              <a:extLst>
                <a:ext uri="{FF2B5EF4-FFF2-40B4-BE49-F238E27FC236}">
                  <a16:creationId xmlns:a16="http://schemas.microsoft.com/office/drawing/2014/main" id="{73BB7171-D03E-6295-4C48-4EE5F2EF0850}"/>
                </a:ext>
              </a:extLst>
            </p:cNvPr>
            <p:cNvSpPr/>
            <p:nvPr/>
          </p:nvSpPr>
          <p:spPr>
            <a:xfrm>
              <a:off x="1076325" y="3427773"/>
              <a:ext cx="4552950" cy="1076325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38DA428-02EC-1D73-A06F-64C74F91EA8E}"/>
                </a:ext>
              </a:extLst>
            </p:cNvPr>
            <p:cNvSpPr txBox="1"/>
            <p:nvPr/>
          </p:nvSpPr>
          <p:spPr>
            <a:xfrm>
              <a:off x="1847850" y="3627798"/>
              <a:ext cx="605935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CINDER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74FF08F-ED73-5602-2948-A71CAD6FBED9}"/>
                </a:ext>
              </a:extLst>
            </p:cNvPr>
            <p:cNvSpPr txBox="1"/>
            <p:nvPr/>
          </p:nvSpPr>
          <p:spPr>
            <a:xfrm>
              <a:off x="1847850" y="3904023"/>
              <a:ext cx="3676650" cy="5116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1125" dirty="0">
                  <a:solidFill>
                    <a:srgbClr val="475569"/>
                  </a:solidFill>
                  <a:latin typeface="Plus Jakarta Sans"/>
                </a:rPr>
                <a:t>Block Storage</a:t>
              </a:r>
              <a:r>
                <a:rPr sz="1125" b="0" i="0" u="none" dirty="0">
                  <a:solidFill>
                    <a:srgbClr val="475569"/>
                  </a:solidFill>
                  <a:latin typeface="Plus Jakarta Sans"/>
                </a:rPr>
                <a:t> —</a:t>
              </a:r>
              <a:r>
                <a:rPr lang="th-TH" sz="1125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en-US" sz="1100" b="0" i="0" u="none" dirty="0">
                  <a:solidFill>
                    <a:srgbClr val="334155"/>
                  </a:solidFill>
                  <a:latin typeface="Plus Jakarta Sans"/>
                </a:rPr>
                <a:t>P</a:t>
              </a:r>
              <a:r>
                <a:rPr lang="en-US" sz="1100" dirty="0">
                  <a:solidFill>
                    <a:srgbClr val="334155"/>
                  </a:solidFill>
                  <a:latin typeface="Plus Jakarta Sans"/>
                </a:rPr>
                <a:t>rovides persistent, high-performance block storage volumes (similar to virtual hard disks or SAN storage) to compute instances like virtual machines or bare-metal servers.</a:t>
              </a:r>
            </a:p>
          </p:txBody>
        </p:sp>
      </p:grpSp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44480FF9-F27A-9D41-B404-74229548D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1701466"/>
            <a:ext cx="419100" cy="419100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4F127BCF-88DE-B71E-19EB-B7F5930A8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1815012"/>
            <a:ext cx="180975" cy="209550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94CBE52A-BF78-6462-F93E-58BD7E72D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775" y="3580652"/>
            <a:ext cx="457200" cy="457200"/>
          </a:xfrm>
          <a:prstGeom prst="rect">
            <a:avLst/>
          </a:prstGeom>
        </p:spPr>
      </p:pic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9D07446F-F675-3671-0974-6830E39134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704477"/>
            <a:ext cx="209550" cy="209550"/>
          </a:xfrm>
          <a:prstGeom prst="rect">
            <a:avLst/>
          </a:prstGeom>
        </p:spPr>
      </p:pic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D540C9C6-18C2-0B49-086E-20823B8545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7775" y="4706552"/>
            <a:ext cx="457200" cy="457200"/>
          </a:xfrm>
          <a:prstGeom prst="rect">
            <a:avLst/>
          </a:prstGeom>
        </p:spPr>
      </p:pic>
      <p:pic>
        <p:nvPicPr>
          <p:cNvPr id="38" name="Picture 37" descr="image.png">
            <a:extLst>
              <a:ext uri="{FF2B5EF4-FFF2-40B4-BE49-F238E27FC236}">
                <a16:creationId xmlns:a16="http://schemas.microsoft.com/office/drawing/2014/main" id="{C8DE17B0-565E-B27D-B0A3-4E1F3AF249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7312" y="4830377"/>
            <a:ext cx="238125" cy="209550"/>
          </a:xfrm>
          <a:prstGeom prst="rect">
            <a:avLst/>
          </a:prstGeom>
        </p:spPr>
      </p:pic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A1669E1C-BCCE-ECD9-C6AF-0333B9ECA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3" y="2454105"/>
            <a:ext cx="419100" cy="419100"/>
          </a:xfrm>
          <a:prstGeom prst="rect">
            <a:avLst/>
          </a:prstGeom>
        </p:spPr>
      </p:pic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6235B4E1-33B3-7CED-1E53-69B327AE1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838" y="2567651"/>
            <a:ext cx="180975" cy="209550"/>
          </a:xfrm>
          <a:prstGeom prst="rect">
            <a:avLst/>
          </a:prstGeom>
        </p:spPr>
      </p:pic>
      <p:sp>
        <p:nvSpPr>
          <p:cNvPr id="43" name="Rounded Rectangle 2">
            <a:extLst>
              <a:ext uri="{FF2B5EF4-FFF2-40B4-BE49-F238E27FC236}">
                <a16:creationId xmlns:a16="http://schemas.microsoft.com/office/drawing/2014/main" id="{2A3CC2B9-E34B-ABA1-9DF1-FE40E503AB11}"/>
              </a:ext>
            </a:extLst>
          </p:cNvPr>
          <p:cNvSpPr/>
          <p:nvPr/>
        </p:nvSpPr>
        <p:spPr>
          <a:xfrm>
            <a:off x="6248400" y="1435495"/>
            <a:ext cx="5181600" cy="4303514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09921E-2D18-F227-E86C-A29848E366F6}"/>
              </a:ext>
            </a:extLst>
          </p:cNvPr>
          <p:cNvSpPr txBox="1"/>
          <p:nvPr/>
        </p:nvSpPr>
        <p:spPr>
          <a:xfrm>
            <a:off x="7058025" y="1806970"/>
            <a:ext cx="763029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50" b="1" dirty="0">
                <a:solidFill>
                  <a:srgbClr val="0F172A"/>
                </a:solidFill>
                <a:latin typeface="Plus Jakarta Sans"/>
              </a:rPr>
              <a:t>Network</a:t>
            </a:r>
            <a:endParaRPr sz="1650" b="1" i="0" u="none" dirty="0">
              <a:solidFill>
                <a:srgbClr val="0F172A"/>
              </a:solidFill>
              <a:latin typeface="Plus Jakarta Sans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F62D107-FF72-69C1-B235-C507A651C916}"/>
              </a:ext>
            </a:extLst>
          </p:cNvPr>
          <p:cNvGrpSpPr/>
          <p:nvPr/>
        </p:nvGrpSpPr>
        <p:grpSpPr>
          <a:xfrm>
            <a:off x="6562725" y="2268566"/>
            <a:ext cx="4552950" cy="1072124"/>
            <a:chOff x="1076325" y="2254081"/>
            <a:chExt cx="4552950" cy="1072124"/>
          </a:xfrm>
        </p:grpSpPr>
        <p:sp>
          <p:nvSpPr>
            <p:cNvPr id="46" name="Rounded Rectangle 5">
              <a:extLst>
                <a:ext uri="{FF2B5EF4-FFF2-40B4-BE49-F238E27FC236}">
                  <a16:creationId xmlns:a16="http://schemas.microsoft.com/office/drawing/2014/main" id="{6086C22C-3311-0624-9BBE-9277351358CB}"/>
                </a:ext>
              </a:extLst>
            </p:cNvPr>
            <p:cNvSpPr/>
            <p:nvPr/>
          </p:nvSpPr>
          <p:spPr>
            <a:xfrm>
              <a:off x="1076325" y="2254081"/>
              <a:ext cx="4552950" cy="1072124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A9CA9E2-D56A-5CC1-283F-89EBFBF545ED}"/>
                </a:ext>
              </a:extLst>
            </p:cNvPr>
            <p:cNvSpPr txBox="1"/>
            <p:nvPr/>
          </p:nvSpPr>
          <p:spPr>
            <a:xfrm>
              <a:off x="1847850" y="2454105"/>
              <a:ext cx="804451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i="0" u="none" dirty="0">
                  <a:solidFill>
                    <a:srgbClr val="0F172A"/>
                  </a:solidFill>
                  <a:latin typeface="Plus Jakarta Sans"/>
                </a:rPr>
                <a:t>NEUTRON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1BD53A5-7A23-BAAD-3A18-FE5B92168EA5}"/>
                </a:ext>
              </a:extLst>
            </p:cNvPr>
            <p:cNvSpPr txBox="1"/>
            <p:nvPr/>
          </p:nvSpPr>
          <p:spPr>
            <a:xfrm>
              <a:off x="1847850" y="2730330"/>
              <a:ext cx="3676650" cy="5116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125" b="0" i="0" u="none" dirty="0">
                  <a:solidFill>
                    <a:srgbClr val="475569"/>
                  </a:solidFill>
                  <a:latin typeface="Plus Jakarta Sans"/>
                </a:rPr>
                <a:t>Networking </a:t>
              </a:r>
              <a:r>
                <a:rPr sz="1125" b="0" i="0" u="none" dirty="0">
                  <a:solidFill>
                    <a:srgbClr val="475569"/>
                  </a:solidFill>
                  <a:latin typeface="Plus Jakarta Sans"/>
                </a:rPr>
                <a:t>—</a:t>
              </a:r>
              <a:r>
                <a:rPr lang="th-TH" sz="1125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en-US" sz="1100" b="0" i="0" u="none" dirty="0">
                  <a:solidFill>
                    <a:srgbClr val="334155"/>
                  </a:solidFill>
                  <a:latin typeface="Plus Jakarta Sans"/>
                </a:rPr>
                <a:t>P</a:t>
              </a:r>
              <a:r>
                <a:rPr lang="en-US" sz="1100" dirty="0">
                  <a:solidFill>
                    <a:srgbClr val="334155"/>
                  </a:solidFill>
                  <a:latin typeface="Plus Jakarta Sans"/>
                </a:rPr>
                <a:t>rovides networking-as-a-service, enabling users to create and manage software-defined networks, subnets, routers, security groups, and floating IPs for compute instances.</a:t>
              </a:r>
              <a:endParaRPr sz="1125" b="0" i="0" u="none" dirty="0">
                <a:solidFill>
                  <a:srgbClr val="475569"/>
                </a:solidFill>
                <a:latin typeface="Plus Jakarta Sans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7FFC606-1F8A-6DEF-D185-21B1A81C6425}"/>
              </a:ext>
            </a:extLst>
          </p:cNvPr>
          <p:cNvGrpSpPr/>
          <p:nvPr/>
        </p:nvGrpSpPr>
        <p:grpSpPr>
          <a:xfrm>
            <a:off x="6562725" y="4518780"/>
            <a:ext cx="4552950" cy="1076325"/>
            <a:chOff x="1076325" y="3427773"/>
            <a:chExt cx="4552950" cy="1076325"/>
          </a:xfrm>
        </p:grpSpPr>
        <p:sp>
          <p:nvSpPr>
            <p:cNvPr id="50" name="Rounded Rectangle 6">
              <a:extLst>
                <a:ext uri="{FF2B5EF4-FFF2-40B4-BE49-F238E27FC236}">
                  <a16:creationId xmlns:a16="http://schemas.microsoft.com/office/drawing/2014/main" id="{B1DDF29F-E424-6BE0-9565-9E784D915632}"/>
                </a:ext>
              </a:extLst>
            </p:cNvPr>
            <p:cNvSpPr/>
            <p:nvPr/>
          </p:nvSpPr>
          <p:spPr>
            <a:xfrm>
              <a:off x="1076325" y="3427773"/>
              <a:ext cx="4552950" cy="1076325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F4E79A2-C5B5-71C5-0A4C-BDF26AF08F4F}"/>
                </a:ext>
              </a:extLst>
            </p:cNvPr>
            <p:cNvSpPr txBox="1"/>
            <p:nvPr/>
          </p:nvSpPr>
          <p:spPr>
            <a:xfrm>
              <a:off x="1847850" y="3627798"/>
              <a:ext cx="896849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DESIGNATE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296E5C3-99FF-998A-4D78-ED45B4EBABBD}"/>
                </a:ext>
              </a:extLst>
            </p:cNvPr>
            <p:cNvSpPr txBox="1"/>
            <p:nvPr/>
          </p:nvSpPr>
          <p:spPr>
            <a:xfrm>
              <a:off x="1847850" y="3904023"/>
              <a:ext cx="3676650" cy="5116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125" b="0" i="0" u="none" dirty="0">
                  <a:solidFill>
                    <a:srgbClr val="475569"/>
                  </a:solidFill>
                  <a:latin typeface="Plus Jakarta Sans"/>
                </a:rPr>
                <a:t>DNS</a:t>
              </a:r>
              <a:r>
                <a:rPr lang="th-TH" sz="1125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en-US" sz="1125" b="0" i="0" u="none" dirty="0">
                  <a:solidFill>
                    <a:srgbClr val="475569"/>
                  </a:solidFill>
                  <a:latin typeface="Plus Jakarta Sans"/>
                </a:rPr>
                <a:t>Service</a:t>
              </a:r>
              <a:r>
                <a:rPr sz="1125" b="0" i="0" u="none" dirty="0">
                  <a:solidFill>
                    <a:srgbClr val="475569"/>
                  </a:solidFill>
                  <a:latin typeface="Plus Jakarta Sans"/>
                </a:rPr>
                <a:t> —</a:t>
              </a:r>
              <a:r>
                <a:rPr lang="th-TH" sz="1125" b="0" i="0" u="none" dirty="0">
                  <a:solidFill>
                    <a:srgbClr val="475569"/>
                  </a:solidFill>
                  <a:latin typeface="Plus Jakarta Sans"/>
                </a:rPr>
                <a:t> </a:t>
              </a:r>
              <a:r>
                <a:rPr lang="en-US" sz="1125" b="0" i="0" u="none" dirty="0">
                  <a:solidFill>
                    <a:srgbClr val="475569"/>
                  </a:solidFill>
                  <a:latin typeface="Plus Jakarta Sans"/>
                </a:rPr>
                <a:t>P</a:t>
              </a:r>
              <a:r>
                <a:rPr lang="en-US" sz="1100" dirty="0">
                  <a:solidFill>
                    <a:srgbClr val="334155"/>
                  </a:solidFill>
                  <a:latin typeface="Plus Jakarta Sans"/>
                </a:rPr>
                <a:t>rovides scalable, multi-tenant DNS management, allowing users to create, manage, and automate DNS zones, records, and domains via REST APIs.</a:t>
              </a:r>
              <a:endParaRPr sz="1125" b="0" i="0" u="none" dirty="0">
                <a:solidFill>
                  <a:srgbClr val="475569"/>
                </a:solidFill>
                <a:latin typeface="Plus Jakarta San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43E9819-7123-07E6-2ADC-389AA2E67546}"/>
              </a:ext>
            </a:extLst>
          </p:cNvPr>
          <p:cNvGrpSpPr/>
          <p:nvPr/>
        </p:nvGrpSpPr>
        <p:grpSpPr>
          <a:xfrm>
            <a:off x="6562725" y="3400143"/>
            <a:ext cx="4552950" cy="1069062"/>
            <a:chOff x="1076325" y="3435036"/>
            <a:chExt cx="4552950" cy="1069062"/>
          </a:xfrm>
        </p:grpSpPr>
        <p:sp>
          <p:nvSpPr>
            <p:cNvPr id="54" name="Rounded Rectangle 6">
              <a:extLst>
                <a:ext uri="{FF2B5EF4-FFF2-40B4-BE49-F238E27FC236}">
                  <a16:creationId xmlns:a16="http://schemas.microsoft.com/office/drawing/2014/main" id="{68EB3A4C-FBFF-DEE3-172F-3E0BAF7E4732}"/>
                </a:ext>
              </a:extLst>
            </p:cNvPr>
            <p:cNvSpPr/>
            <p:nvPr/>
          </p:nvSpPr>
          <p:spPr>
            <a:xfrm>
              <a:off x="1076325" y="3435036"/>
              <a:ext cx="4552950" cy="1069062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6AE53F2-9281-F59E-BCD2-D2D12B437D8F}"/>
                </a:ext>
              </a:extLst>
            </p:cNvPr>
            <p:cNvSpPr txBox="1"/>
            <p:nvPr/>
          </p:nvSpPr>
          <p:spPr>
            <a:xfrm>
              <a:off x="1847850" y="3627798"/>
              <a:ext cx="702115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OCTAVIA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470C63A-1731-9674-477F-9F1F9A7EF0BA}"/>
                </a:ext>
              </a:extLst>
            </p:cNvPr>
            <p:cNvSpPr txBox="1"/>
            <p:nvPr/>
          </p:nvSpPr>
          <p:spPr>
            <a:xfrm>
              <a:off x="1847850" y="3904023"/>
              <a:ext cx="3676650" cy="51937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125" b="0" i="0" u="none" dirty="0">
                  <a:solidFill>
                    <a:srgbClr val="475569"/>
                  </a:solidFill>
                  <a:latin typeface="Plus Jakarta Sans"/>
                </a:rPr>
                <a:t>Load Balancer</a:t>
              </a:r>
              <a:r>
                <a:rPr sz="1125" b="0" i="0" u="none" dirty="0">
                  <a:solidFill>
                    <a:srgbClr val="475569"/>
                  </a:solidFill>
                  <a:latin typeface="Plus Jakarta Sans"/>
                </a:rPr>
                <a:t> — </a:t>
              </a:r>
              <a:r>
                <a:rPr lang="en-US" sz="1125" dirty="0">
                  <a:solidFill>
                    <a:srgbClr val="475569"/>
                  </a:solidFill>
                  <a:latin typeface="Plus Jakarta Sans"/>
                </a:rPr>
                <a:t>P</a:t>
              </a:r>
              <a:r>
                <a:rPr lang="en-US" sz="1125" b="0" i="0" u="none" dirty="0">
                  <a:solidFill>
                    <a:srgbClr val="475569"/>
                  </a:solidFill>
                  <a:latin typeface="Plus Jakarta Sans"/>
                </a:rPr>
                <a:t>rovides scalable, fault-tolerant, and on-demand load balancing to distribute incoming application traffic across multiple compute instances.</a:t>
              </a:r>
            </a:p>
          </p:txBody>
        </p:sp>
      </p:grpSp>
      <p:pic>
        <p:nvPicPr>
          <p:cNvPr id="88" name="Picture 87" descr="image.png">
            <a:extLst>
              <a:ext uri="{FF2B5EF4-FFF2-40B4-BE49-F238E27FC236}">
                <a16:creationId xmlns:a16="http://schemas.microsoft.com/office/drawing/2014/main" id="{11A5C227-33B7-828A-9963-C953F8DF49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7933" y="2454105"/>
            <a:ext cx="457200" cy="457200"/>
          </a:xfrm>
          <a:prstGeom prst="rect">
            <a:avLst/>
          </a:prstGeom>
        </p:spPr>
      </p:pic>
      <p:pic>
        <p:nvPicPr>
          <p:cNvPr id="90" name="Picture 89" descr="image.png">
            <a:extLst>
              <a:ext uri="{FF2B5EF4-FFF2-40B4-BE49-F238E27FC236}">
                <a16:creationId xmlns:a16="http://schemas.microsoft.com/office/drawing/2014/main" id="{D2F75A39-A693-E204-E294-43867E9A4F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3183" y="2577930"/>
            <a:ext cx="266700" cy="209550"/>
          </a:xfrm>
          <a:prstGeom prst="rect">
            <a:avLst/>
          </a:prstGeom>
        </p:spPr>
      </p:pic>
      <p:pic>
        <p:nvPicPr>
          <p:cNvPr id="92" name="Picture 91" descr="image.png">
            <a:extLst>
              <a:ext uri="{FF2B5EF4-FFF2-40B4-BE49-F238E27FC236}">
                <a16:creationId xmlns:a16="http://schemas.microsoft.com/office/drawing/2014/main" id="{3494A94B-0B8A-BB91-6DEE-5C251E1A90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7933" y="3572742"/>
            <a:ext cx="457200" cy="457200"/>
          </a:xfrm>
          <a:prstGeom prst="rect">
            <a:avLst/>
          </a:prstGeom>
        </p:spPr>
      </p:pic>
      <p:pic>
        <p:nvPicPr>
          <p:cNvPr id="94" name="Picture 93" descr="image.png">
            <a:extLst>
              <a:ext uri="{FF2B5EF4-FFF2-40B4-BE49-F238E27FC236}">
                <a16:creationId xmlns:a16="http://schemas.microsoft.com/office/drawing/2014/main" id="{64DDE007-AD03-9A8F-8463-999342FF9B5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1758" y="3696567"/>
            <a:ext cx="209550" cy="209550"/>
          </a:xfrm>
          <a:prstGeom prst="rect">
            <a:avLst/>
          </a:prstGeom>
        </p:spPr>
      </p:pic>
      <p:pic>
        <p:nvPicPr>
          <p:cNvPr id="96" name="Picture 95" descr="image.png">
            <a:extLst>
              <a:ext uri="{FF2B5EF4-FFF2-40B4-BE49-F238E27FC236}">
                <a16:creationId xmlns:a16="http://schemas.microsoft.com/office/drawing/2014/main" id="{6EB8DC49-30B7-93B9-D8E7-BFC7A35713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7933" y="4693600"/>
            <a:ext cx="457200" cy="457200"/>
          </a:xfrm>
          <a:prstGeom prst="rect">
            <a:avLst/>
          </a:prstGeom>
        </p:spPr>
      </p:pic>
      <p:pic>
        <p:nvPicPr>
          <p:cNvPr id="98" name="Picture 97" descr="image.png">
            <a:extLst>
              <a:ext uri="{FF2B5EF4-FFF2-40B4-BE49-F238E27FC236}">
                <a16:creationId xmlns:a16="http://schemas.microsoft.com/office/drawing/2014/main" id="{D776A641-2996-B19F-7377-527EB09E366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71758" y="4817425"/>
            <a:ext cx="209550" cy="209550"/>
          </a:xfrm>
          <a:prstGeom prst="rect">
            <a:avLst/>
          </a:prstGeom>
        </p:spPr>
      </p:pic>
      <p:pic>
        <p:nvPicPr>
          <p:cNvPr id="102" name="Picture 101" descr="image.png">
            <a:extLst>
              <a:ext uri="{FF2B5EF4-FFF2-40B4-BE49-F238E27FC236}">
                <a16:creationId xmlns:a16="http://schemas.microsoft.com/office/drawing/2014/main" id="{FEA4120D-468E-9DAE-77F1-6BAE692813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333" y="1691187"/>
            <a:ext cx="457200" cy="457200"/>
          </a:xfrm>
          <a:prstGeom prst="rect">
            <a:avLst/>
          </a:prstGeom>
        </p:spPr>
      </p:pic>
      <p:pic>
        <p:nvPicPr>
          <p:cNvPr id="106" name="Picture 105" descr="image.png">
            <a:extLst>
              <a:ext uri="{FF2B5EF4-FFF2-40B4-BE49-F238E27FC236}">
                <a16:creationId xmlns:a16="http://schemas.microsoft.com/office/drawing/2014/main" id="{9DA53CB0-08EF-2A54-272D-EC0353B8A1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4583" y="1815012"/>
            <a:ext cx="26670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29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DB858-2D28-A9AA-B199-CE27EC3B8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A4002-C87E-5939-2586-B999EC3BA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OpenStack Services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844AD-3E39-9BA0-8169-0FA905BDF5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991600" y="10048"/>
            <a:ext cx="3200400" cy="1273491"/>
          </a:xfrm>
          <a:prstGeom prst="rect">
            <a:avLst/>
          </a:prstGeom>
        </p:spPr>
      </p:pic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2C726FE2-4D51-CBA6-1969-64F613365456}"/>
              </a:ext>
            </a:extLst>
          </p:cNvPr>
          <p:cNvSpPr/>
          <p:nvPr/>
        </p:nvSpPr>
        <p:spPr>
          <a:xfrm>
            <a:off x="762000" y="1421010"/>
            <a:ext cx="5181600" cy="3339373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4EC56C0-CDEF-A691-54D3-E9016040C281}"/>
              </a:ext>
            </a:extLst>
          </p:cNvPr>
          <p:cNvSpPr/>
          <p:nvPr/>
        </p:nvSpPr>
        <p:spPr>
          <a:xfrm>
            <a:off x="762000" y="5991225"/>
            <a:ext cx="10668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2DFF35-3441-1374-50A4-A62585CEA7AF}"/>
              </a:ext>
            </a:extLst>
          </p:cNvPr>
          <p:cNvSpPr txBox="1"/>
          <p:nvPr/>
        </p:nvSpPr>
        <p:spPr>
          <a:xfrm>
            <a:off x="1563159" y="1808841"/>
            <a:ext cx="1338251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50" b="1" dirty="0">
                <a:solidFill>
                  <a:srgbClr val="0F172A"/>
                </a:solidFill>
                <a:latin typeface="Plus Jakarta Sans"/>
              </a:rPr>
              <a:t>Web Frontends</a:t>
            </a:r>
            <a:endParaRPr sz="1650" b="1" i="0" u="none" dirty="0">
              <a:solidFill>
                <a:srgbClr val="0F172A"/>
              </a:solidFill>
              <a:latin typeface="Plus Jakarta San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C9CB35-74A8-AAC9-6AB2-415866B2ADCB}"/>
              </a:ext>
            </a:extLst>
          </p:cNvPr>
          <p:cNvGrpSpPr/>
          <p:nvPr/>
        </p:nvGrpSpPr>
        <p:grpSpPr>
          <a:xfrm>
            <a:off x="1067859" y="2270436"/>
            <a:ext cx="4552950" cy="1078594"/>
            <a:chOff x="1076325" y="2254080"/>
            <a:chExt cx="4552950" cy="1078594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1ECBD6A-49B7-910E-F373-628A6DAE5626}"/>
                </a:ext>
              </a:extLst>
            </p:cNvPr>
            <p:cNvSpPr/>
            <p:nvPr/>
          </p:nvSpPr>
          <p:spPr>
            <a:xfrm>
              <a:off x="1076325" y="2254080"/>
              <a:ext cx="4552950" cy="1076325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3A1CED-1C45-BB36-3ABA-916604C9CA43}"/>
                </a:ext>
              </a:extLst>
            </p:cNvPr>
            <p:cNvSpPr txBox="1"/>
            <p:nvPr/>
          </p:nvSpPr>
          <p:spPr>
            <a:xfrm>
              <a:off x="1847850" y="2454105"/>
              <a:ext cx="757002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i="0" u="none" dirty="0">
                  <a:solidFill>
                    <a:srgbClr val="0F172A"/>
                  </a:solidFill>
                  <a:latin typeface="Plus Jakarta Sans"/>
                </a:rPr>
                <a:t>HORIZON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4A3BAE-4B89-2CA3-0C82-129E195CE7DB}"/>
                </a:ext>
              </a:extLst>
            </p:cNvPr>
            <p:cNvSpPr txBox="1"/>
            <p:nvPr/>
          </p:nvSpPr>
          <p:spPr>
            <a:xfrm>
              <a:off x="1847850" y="2730330"/>
              <a:ext cx="3676650" cy="6023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1575"/>
                </a:lnSpc>
              </a:pPr>
              <a:r>
                <a:rPr lang="en-US" sz="1125" b="0" i="0" u="none" dirty="0">
                  <a:solidFill>
                    <a:srgbClr val="475569"/>
                  </a:solidFill>
                  <a:latin typeface="Plus Jakarta Sans"/>
                </a:rPr>
                <a:t>OpenStack dashboard service that provides a web-based, self-service graphical user interface for administrators and users to interact with and manage various OpenStack services.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C87984-BFA2-E863-84CC-9EA02DD0E987}"/>
              </a:ext>
            </a:extLst>
          </p:cNvPr>
          <p:cNvGrpSpPr/>
          <p:nvPr/>
        </p:nvGrpSpPr>
        <p:grpSpPr>
          <a:xfrm>
            <a:off x="1067859" y="3394751"/>
            <a:ext cx="4552950" cy="1078594"/>
            <a:chOff x="1076325" y="3427773"/>
            <a:chExt cx="4552950" cy="1078594"/>
          </a:xfrm>
        </p:grpSpPr>
        <p:sp>
          <p:nvSpPr>
            <p:cNvPr id="18" name="Rounded Rectangle 6">
              <a:extLst>
                <a:ext uri="{FF2B5EF4-FFF2-40B4-BE49-F238E27FC236}">
                  <a16:creationId xmlns:a16="http://schemas.microsoft.com/office/drawing/2014/main" id="{E72A76EF-002A-5FB1-CB63-257641CCE3AF}"/>
                </a:ext>
              </a:extLst>
            </p:cNvPr>
            <p:cNvSpPr/>
            <p:nvPr/>
          </p:nvSpPr>
          <p:spPr>
            <a:xfrm>
              <a:off x="1076325" y="3427773"/>
              <a:ext cx="4552950" cy="1076325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5A6BE92-6423-D13E-315B-29991F392174}"/>
                </a:ext>
              </a:extLst>
            </p:cNvPr>
            <p:cNvSpPr txBox="1"/>
            <p:nvPr/>
          </p:nvSpPr>
          <p:spPr>
            <a:xfrm>
              <a:off x="1847850" y="3627798"/>
              <a:ext cx="650819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SKYLINE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70F5267-D1DC-F5CB-7F65-FE2442CAE867}"/>
                </a:ext>
              </a:extLst>
            </p:cNvPr>
            <p:cNvSpPr txBox="1"/>
            <p:nvPr/>
          </p:nvSpPr>
          <p:spPr>
            <a:xfrm>
              <a:off x="1847850" y="3904023"/>
              <a:ext cx="3676650" cy="6023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5" b="0" i="0" u="none" dirty="0">
                  <a:solidFill>
                    <a:srgbClr val="475569"/>
                  </a:solidFill>
                  <a:latin typeface="Plus Jakarta Sans"/>
                </a:rPr>
                <a:t>OpenStack lightweight, web-based dashboard designed as a modern, high-performance alternative to Horizon, providing a clean user interface for managing cloud resources.</a:t>
              </a:r>
            </a:p>
          </p:txBody>
        </p:sp>
      </p:grpSp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6A7975A8-B1B4-CCB0-6D96-B6E8E083B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271" y="1690688"/>
            <a:ext cx="419100" cy="419100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221D6B40-5167-ADA5-A8B9-E9E6BA1EB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283" y="1804988"/>
            <a:ext cx="219075" cy="19050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A2319F76-22FE-3FBD-B106-8EB8F0E80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466" y="2453444"/>
            <a:ext cx="419100" cy="419100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F0133930-48B2-8515-6864-335D38015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478" y="2567744"/>
            <a:ext cx="219075" cy="190500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417EE4A9-A480-1C6C-9F3F-0CF79B333B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058" y="3645936"/>
            <a:ext cx="419100" cy="419100"/>
          </a:xfrm>
          <a:prstGeom prst="rect">
            <a:avLst/>
          </a:prstGeom>
        </p:spPr>
      </p:pic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48E553A2-8CB4-5920-06B5-C484FB0CD5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5358" y="3760236"/>
            <a:ext cx="1905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360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48CF6-1FBF-5BE5-07C9-3CBF234F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45DE3-21E2-01F3-25A8-06031722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OpenStack Services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2A04E-42C6-2277-917F-927079B757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991600" y="10048"/>
            <a:ext cx="3200400" cy="1273491"/>
          </a:xfrm>
          <a:prstGeom prst="rect">
            <a:avLst/>
          </a:prstGeom>
        </p:spPr>
      </p:pic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901DA09B-EF14-832A-7ED1-8577462D74DA}"/>
              </a:ext>
            </a:extLst>
          </p:cNvPr>
          <p:cNvSpPr/>
          <p:nvPr/>
        </p:nvSpPr>
        <p:spPr>
          <a:xfrm>
            <a:off x="762000" y="1395916"/>
            <a:ext cx="10668000" cy="4385007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4CA7A93-8240-E166-5472-29C6A30DBD1A}"/>
              </a:ext>
            </a:extLst>
          </p:cNvPr>
          <p:cNvSpPr/>
          <p:nvPr/>
        </p:nvSpPr>
        <p:spPr>
          <a:xfrm>
            <a:off x="762000" y="5991225"/>
            <a:ext cx="10668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F07593B-D73A-B771-8719-58D510609EAF}"/>
              </a:ext>
            </a:extLst>
          </p:cNvPr>
          <p:cNvSpPr txBox="1"/>
          <p:nvPr/>
        </p:nvSpPr>
        <p:spPr>
          <a:xfrm>
            <a:off x="1571625" y="1792485"/>
            <a:ext cx="120462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50" b="1" dirty="0">
                <a:solidFill>
                  <a:srgbClr val="0F172A"/>
                </a:solidFill>
                <a:latin typeface="Plus Jakarta Sans"/>
              </a:rPr>
              <a:t>Orchestration</a:t>
            </a:r>
            <a:endParaRPr sz="1650" b="1" i="0" u="none" dirty="0">
              <a:solidFill>
                <a:srgbClr val="0F172A"/>
              </a:solidFill>
              <a:latin typeface="Plus Jakarta San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47179A9-5DFD-D578-EE00-B5CB398C56C5}"/>
              </a:ext>
            </a:extLst>
          </p:cNvPr>
          <p:cNvGrpSpPr/>
          <p:nvPr/>
        </p:nvGrpSpPr>
        <p:grpSpPr>
          <a:xfrm>
            <a:off x="1076325" y="2254080"/>
            <a:ext cx="4552950" cy="1214914"/>
            <a:chOff x="1076325" y="2254080"/>
            <a:chExt cx="4552950" cy="1214914"/>
          </a:xfrm>
        </p:grpSpPr>
        <p:sp>
          <p:nvSpPr>
            <p:cNvPr id="105" name="Rounded Rectangle 5">
              <a:extLst>
                <a:ext uri="{FF2B5EF4-FFF2-40B4-BE49-F238E27FC236}">
                  <a16:creationId xmlns:a16="http://schemas.microsoft.com/office/drawing/2014/main" id="{5CF2BF0A-5304-A53E-070A-98B0AFC8B4BC}"/>
                </a:ext>
              </a:extLst>
            </p:cNvPr>
            <p:cNvSpPr/>
            <p:nvPr/>
          </p:nvSpPr>
          <p:spPr>
            <a:xfrm>
              <a:off x="1076325" y="2254080"/>
              <a:ext cx="4552950" cy="1214914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1449023-A64B-18BC-96AF-218B26B048FC}"/>
                </a:ext>
              </a:extLst>
            </p:cNvPr>
            <p:cNvSpPr txBox="1"/>
            <p:nvPr/>
          </p:nvSpPr>
          <p:spPr>
            <a:xfrm>
              <a:off x="1847850" y="2454105"/>
              <a:ext cx="410625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HEAT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D2C655D-B1CF-E2D5-CA99-04AA9B8AA44C}"/>
                </a:ext>
              </a:extLst>
            </p:cNvPr>
            <p:cNvSpPr txBox="1"/>
            <p:nvPr/>
          </p:nvSpPr>
          <p:spPr>
            <a:xfrm>
              <a:off x="1847850" y="2730330"/>
              <a:ext cx="3676650" cy="7386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1200" dirty="0">
                  <a:solidFill>
                    <a:srgbClr val="64748B"/>
                  </a:solidFill>
                  <a:latin typeface="Plus Jakarta Sans"/>
                </a:rPr>
                <a:t>Automates the deployment and management of complex cloud infrastructures using templates, allowing users to define resources, relationships, and configurations in a single declarative file.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903FAF9-8DFD-A2B5-E60B-B3CFE8D32F83}"/>
              </a:ext>
            </a:extLst>
          </p:cNvPr>
          <p:cNvGrpSpPr/>
          <p:nvPr/>
        </p:nvGrpSpPr>
        <p:grpSpPr>
          <a:xfrm>
            <a:off x="6562725" y="3659339"/>
            <a:ext cx="4552950" cy="1317024"/>
            <a:chOff x="1076325" y="3427773"/>
            <a:chExt cx="4552950" cy="1317024"/>
          </a:xfrm>
        </p:grpSpPr>
        <p:sp>
          <p:nvSpPr>
            <p:cNvPr id="17" name="Rounded Rectangle 6">
              <a:extLst>
                <a:ext uri="{FF2B5EF4-FFF2-40B4-BE49-F238E27FC236}">
                  <a16:creationId xmlns:a16="http://schemas.microsoft.com/office/drawing/2014/main" id="{FE6999B1-2579-77D3-06FC-79EE86CCC7DA}"/>
                </a:ext>
              </a:extLst>
            </p:cNvPr>
            <p:cNvSpPr/>
            <p:nvPr/>
          </p:nvSpPr>
          <p:spPr>
            <a:xfrm>
              <a:off x="1076325" y="3427773"/>
              <a:ext cx="4552950" cy="1317024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A5D0BB-5F3D-E286-E858-BCD6BD5D9481}"/>
                </a:ext>
              </a:extLst>
            </p:cNvPr>
            <p:cNvSpPr txBox="1"/>
            <p:nvPr/>
          </p:nvSpPr>
          <p:spPr>
            <a:xfrm>
              <a:off x="1847850" y="3627798"/>
              <a:ext cx="487890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AODH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0D821E4-4C46-A1D9-AECE-7FAFED163B84}"/>
                </a:ext>
              </a:extLst>
            </p:cNvPr>
            <p:cNvSpPr txBox="1"/>
            <p:nvPr/>
          </p:nvSpPr>
          <p:spPr>
            <a:xfrm>
              <a:off x="1847850" y="3904023"/>
              <a:ext cx="3676650" cy="8075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5" dirty="0">
                  <a:solidFill>
                    <a:srgbClr val="475569"/>
                  </a:solidFill>
                  <a:latin typeface="Plus Jakarta Sans"/>
                </a:rPr>
                <a:t>OpenStack alarming service that evaluates alarms defined against telemetry data collected by Ceilometer, triggering automated actions or notifications when specified performance and metric thresholds are breached.</a:t>
              </a:r>
              <a:endParaRPr sz="1125" b="0" i="0" u="none" dirty="0">
                <a:solidFill>
                  <a:srgbClr val="475569"/>
                </a:solidFill>
                <a:latin typeface="Plus Jakarta San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BD6D14A-DD52-C037-F0D4-7A1A24D5DF9F}"/>
              </a:ext>
            </a:extLst>
          </p:cNvPr>
          <p:cNvGrpSpPr/>
          <p:nvPr/>
        </p:nvGrpSpPr>
        <p:grpSpPr>
          <a:xfrm>
            <a:off x="1076325" y="3505629"/>
            <a:ext cx="4552950" cy="949091"/>
            <a:chOff x="1076325" y="3555007"/>
            <a:chExt cx="4552950" cy="949091"/>
          </a:xfrm>
        </p:grpSpPr>
        <p:sp>
          <p:nvSpPr>
            <p:cNvPr id="107" name="Rounded Rectangle 6">
              <a:extLst>
                <a:ext uri="{FF2B5EF4-FFF2-40B4-BE49-F238E27FC236}">
                  <a16:creationId xmlns:a16="http://schemas.microsoft.com/office/drawing/2014/main" id="{6B611CFA-E522-DAE3-9F52-1B8A0599C3C5}"/>
                </a:ext>
              </a:extLst>
            </p:cNvPr>
            <p:cNvSpPr/>
            <p:nvPr/>
          </p:nvSpPr>
          <p:spPr>
            <a:xfrm>
              <a:off x="1076325" y="3555007"/>
              <a:ext cx="4552950" cy="949091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C336013-8DD7-C833-1921-0303165333EF}"/>
                </a:ext>
              </a:extLst>
            </p:cNvPr>
            <p:cNvSpPr txBox="1"/>
            <p:nvPr/>
          </p:nvSpPr>
          <p:spPr>
            <a:xfrm>
              <a:off x="1847850" y="3627798"/>
              <a:ext cx="711477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MISTRAL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64252CB-851E-110B-4514-7DE0661AF5AD}"/>
                </a:ext>
              </a:extLst>
            </p:cNvPr>
            <p:cNvSpPr txBox="1"/>
            <p:nvPr/>
          </p:nvSpPr>
          <p:spPr>
            <a:xfrm>
              <a:off x="1847850" y="3904023"/>
              <a:ext cx="3676650" cy="51937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1125" dirty="0">
                  <a:solidFill>
                    <a:srgbClr val="475569"/>
                  </a:solidFill>
                  <a:latin typeface="Plus Jakarta Sans"/>
                </a:rPr>
                <a:t>Component designed to define, execute, and manage complex operational workflows and task automations via a domain-specific language (DSL).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2ABC4D4-ABE7-5059-C2A5-84A6018AC8FA}"/>
              </a:ext>
            </a:extLst>
          </p:cNvPr>
          <p:cNvGrpSpPr/>
          <p:nvPr/>
        </p:nvGrpSpPr>
        <p:grpSpPr>
          <a:xfrm>
            <a:off x="6562725" y="2268565"/>
            <a:ext cx="4552950" cy="1309855"/>
            <a:chOff x="1076325" y="2254080"/>
            <a:chExt cx="4552950" cy="1309855"/>
          </a:xfrm>
        </p:grpSpPr>
        <p:sp>
          <p:nvSpPr>
            <p:cNvPr id="46" name="Rounded Rectangle 5">
              <a:extLst>
                <a:ext uri="{FF2B5EF4-FFF2-40B4-BE49-F238E27FC236}">
                  <a16:creationId xmlns:a16="http://schemas.microsoft.com/office/drawing/2014/main" id="{FEB53C75-9A0E-E10E-9EED-1185B55DC99C}"/>
                </a:ext>
              </a:extLst>
            </p:cNvPr>
            <p:cNvSpPr/>
            <p:nvPr/>
          </p:nvSpPr>
          <p:spPr>
            <a:xfrm>
              <a:off x="1076325" y="2254080"/>
              <a:ext cx="4552950" cy="1309855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272F616-45D9-DD74-AC54-6A9726441C79}"/>
                </a:ext>
              </a:extLst>
            </p:cNvPr>
            <p:cNvSpPr txBox="1"/>
            <p:nvPr/>
          </p:nvSpPr>
          <p:spPr>
            <a:xfrm>
              <a:off x="1847850" y="2454105"/>
              <a:ext cx="622222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i="0" u="none" dirty="0">
                  <a:solidFill>
                    <a:srgbClr val="0F172A"/>
                  </a:solidFill>
                  <a:latin typeface="Plus Jakarta Sans"/>
                </a:rPr>
                <a:t>BLAZAR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7AE756F-B9AE-19E8-8E80-E0E1FCF1998A}"/>
                </a:ext>
              </a:extLst>
            </p:cNvPr>
            <p:cNvSpPr txBox="1"/>
            <p:nvPr/>
          </p:nvSpPr>
          <p:spPr>
            <a:xfrm>
              <a:off x="1847850" y="2730330"/>
              <a:ext cx="3676650" cy="8075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1575"/>
                </a:lnSpc>
              </a:pPr>
              <a:r>
                <a:rPr lang="en-US" sz="1125" b="0" i="0" u="none" dirty="0">
                  <a:solidFill>
                    <a:srgbClr val="475569"/>
                  </a:solidFill>
                  <a:latin typeface="Plus Jakarta Sans"/>
                </a:rPr>
                <a:t>OpenStack resource reservation service that allows users to book and schedule compute, storage, and networking resources in advance to guarantee capacity for specific workloads or scheduled jobs.</a:t>
              </a:r>
            </a:p>
          </p:txBody>
        </p:sp>
      </p:grpSp>
      <p:pic>
        <p:nvPicPr>
          <p:cNvPr id="77" name="Picture 76" descr="image.png">
            <a:extLst>
              <a:ext uri="{FF2B5EF4-FFF2-40B4-BE49-F238E27FC236}">
                <a16:creationId xmlns:a16="http://schemas.microsoft.com/office/drawing/2014/main" id="{056A3FEA-FBF7-874E-E3F5-92FAD0239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2454105"/>
            <a:ext cx="419100" cy="419100"/>
          </a:xfrm>
          <a:prstGeom prst="rect">
            <a:avLst/>
          </a:prstGeom>
        </p:spPr>
      </p:pic>
      <p:pic>
        <p:nvPicPr>
          <p:cNvPr id="79" name="Picture 78" descr="image.png">
            <a:extLst>
              <a:ext uri="{FF2B5EF4-FFF2-40B4-BE49-F238E27FC236}">
                <a16:creationId xmlns:a16="http://schemas.microsoft.com/office/drawing/2014/main" id="{6B2CBB69-B638-9A29-0A7A-45EE61952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2568405"/>
            <a:ext cx="171450" cy="190500"/>
          </a:xfrm>
          <a:prstGeom prst="rect">
            <a:avLst/>
          </a:prstGeom>
        </p:spPr>
      </p:pic>
      <p:pic>
        <p:nvPicPr>
          <p:cNvPr id="83" name="Picture 82" descr="image.png">
            <a:extLst>
              <a:ext uri="{FF2B5EF4-FFF2-40B4-BE49-F238E27FC236}">
                <a16:creationId xmlns:a16="http://schemas.microsoft.com/office/drawing/2014/main" id="{B5BBCA5E-84DA-B152-8A92-D9C51CF74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1709738"/>
            <a:ext cx="419100" cy="419100"/>
          </a:xfrm>
          <a:prstGeom prst="rect">
            <a:avLst/>
          </a:prstGeom>
        </p:spPr>
      </p:pic>
      <p:pic>
        <p:nvPicPr>
          <p:cNvPr id="81" name="Picture 80" descr="image.png">
            <a:extLst>
              <a:ext uri="{FF2B5EF4-FFF2-40B4-BE49-F238E27FC236}">
                <a16:creationId xmlns:a16="http://schemas.microsoft.com/office/drawing/2014/main" id="{C764CDB2-08DE-A1A7-FF3A-5CAD17238B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6337" y="1845119"/>
            <a:ext cx="219075" cy="190500"/>
          </a:xfrm>
          <a:prstGeom prst="rect">
            <a:avLst/>
          </a:prstGeom>
        </p:spPr>
      </p:pic>
      <p:pic>
        <p:nvPicPr>
          <p:cNvPr id="85" name="Picture 84" descr="image.png">
            <a:extLst>
              <a:ext uri="{FF2B5EF4-FFF2-40B4-BE49-F238E27FC236}">
                <a16:creationId xmlns:a16="http://schemas.microsoft.com/office/drawing/2014/main" id="{77E54CBF-EFE5-CE43-0579-B2BF754F2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578621"/>
            <a:ext cx="419100" cy="419100"/>
          </a:xfrm>
          <a:prstGeom prst="rect">
            <a:avLst/>
          </a:prstGeom>
        </p:spPr>
      </p:pic>
      <p:pic>
        <p:nvPicPr>
          <p:cNvPr id="87" name="Picture 86" descr="image.png">
            <a:extLst>
              <a:ext uri="{FF2B5EF4-FFF2-40B4-BE49-F238E27FC236}">
                <a16:creationId xmlns:a16="http://schemas.microsoft.com/office/drawing/2014/main" id="{EC20455C-4C34-BE6B-795C-7286267788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5412" y="3714002"/>
            <a:ext cx="219075" cy="190500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7F8377-1635-F015-D824-B47951FA2C6E}"/>
              </a:ext>
            </a:extLst>
          </p:cNvPr>
          <p:cNvGrpSpPr/>
          <p:nvPr/>
        </p:nvGrpSpPr>
        <p:grpSpPr>
          <a:xfrm>
            <a:off x="1076325" y="4500113"/>
            <a:ext cx="4552950" cy="1231820"/>
            <a:chOff x="1076325" y="3427773"/>
            <a:chExt cx="4552950" cy="1231820"/>
          </a:xfrm>
        </p:grpSpPr>
        <p:sp>
          <p:nvSpPr>
            <p:cNvPr id="109" name="Rounded Rectangle 6">
              <a:extLst>
                <a:ext uri="{FF2B5EF4-FFF2-40B4-BE49-F238E27FC236}">
                  <a16:creationId xmlns:a16="http://schemas.microsoft.com/office/drawing/2014/main" id="{FA659954-5718-5760-A1CC-F4A5531F7C15}"/>
                </a:ext>
              </a:extLst>
            </p:cNvPr>
            <p:cNvSpPr/>
            <p:nvPr/>
          </p:nvSpPr>
          <p:spPr>
            <a:xfrm>
              <a:off x="1076325" y="3427773"/>
              <a:ext cx="4552950" cy="1231820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EAA90F2-103E-3B02-F295-E47A6D1DD4EB}"/>
                </a:ext>
              </a:extLst>
            </p:cNvPr>
            <p:cNvSpPr txBox="1"/>
            <p:nvPr/>
          </p:nvSpPr>
          <p:spPr>
            <a:xfrm>
              <a:off x="1847850" y="3627798"/>
              <a:ext cx="561885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ZAQAR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E7E599C-0F28-461F-0635-6092E7191B71}"/>
                </a:ext>
              </a:extLst>
            </p:cNvPr>
            <p:cNvSpPr txBox="1"/>
            <p:nvPr/>
          </p:nvSpPr>
          <p:spPr>
            <a:xfrm>
              <a:off x="1847850" y="3904023"/>
              <a:ext cx="3676650" cy="69249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1125" dirty="0">
                  <a:solidFill>
                    <a:srgbClr val="475569"/>
                  </a:solidFill>
                  <a:latin typeface="Plus Jakarta Sans"/>
                </a:rPr>
                <a:t>multi-tenant cloud messaging and notification service that provides a high-performance web messaging API for web applications and distributed components to coordinate tasks, queue messages, and publish-subscribe events.</a:t>
              </a:r>
            </a:p>
          </p:txBody>
        </p:sp>
      </p:grpSp>
      <p:pic>
        <p:nvPicPr>
          <p:cNvPr id="113" name="Picture 112" descr="image.png">
            <a:extLst>
              <a:ext uri="{FF2B5EF4-FFF2-40B4-BE49-F238E27FC236}">
                <a16:creationId xmlns:a16="http://schemas.microsoft.com/office/drawing/2014/main" id="{D30949FC-77B8-189F-EBEB-1708AC789B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4675337"/>
            <a:ext cx="419100" cy="419100"/>
          </a:xfrm>
          <a:prstGeom prst="rect">
            <a:avLst/>
          </a:prstGeom>
        </p:spPr>
      </p:pic>
      <p:pic>
        <p:nvPicPr>
          <p:cNvPr id="115" name="Picture 114" descr="image.png">
            <a:extLst>
              <a:ext uri="{FF2B5EF4-FFF2-40B4-BE49-F238E27FC236}">
                <a16:creationId xmlns:a16="http://schemas.microsoft.com/office/drawing/2014/main" id="{A258B56E-8916-84AE-D429-142DB23D49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4789637"/>
            <a:ext cx="190500" cy="190500"/>
          </a:xfrm>
          <a:prstGeom prst="rect">
            <a:avLst/>
          </a:prstGeom>
        </p:spPr>
      </p:pic>
      <p:pic>
        <p:nvPicPr>
          <p:cNvPr id="117" name="Picture 116" descr="image.png">
            <a:extLst>
              <a:ext uri="{FF2B5EF4-FFF2-40B4-BE49-F238E27FC236}">
                <a16:creationId xmlns:a16="http://schemas.microsoft.com/office/drawing/2014/main" id="{F088DB53-41C2-D4E2-57F6-74F3B9FB4A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7882" y="2456337"/>
            <a:ext cx="457200" cy="457200"/>
          </a:xfrm>
          <a:prstGeom prst="rect">
            <a:avLst/>
          </a:prstGeom>
        </p:spPr>
      </p:pic>
      <p:pic>
        <p:nvPicPr>
          <p:cNvPr id="119" name="Picture 118" descr="image.png">
            <a:extLst>
              <a:ext uri="{FF2B5EF4-FFF2-40B4-BE49-F238E27FC236}">
                <a16:creationId xmlns:a16="http://schemas.microsoft.com/office/drawing/2014/main" id="{7E2C80E0-6F48-15B3-CC8E-7C9391B79F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1707" y="2580162"/>
            <a:ext cx="209550" cy="209550"/>
          </a:xfrm>
          <a:prstGeom prst="rect">
            <a:avLst/>
          </a:prstGeom>
        </p:spPr>
      </p:pic>
      <p:pic>
        <p:nvPicPr>
          <p:cNvPr id="121" name="Picture 120" descr="image.png">
            <a:extLst>
              <a:ext uri="{FF2B5EF4-FFF2-40B4-BE49-F238E27FC236}">
                <a16:creationId xmlns:a16="http://schemas.microsoft.com/office/drawing/2014/main" id="{01E6FD14-36E0-F53E-B006-28BC9E1E2F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7882" y="3897365"/>
            <a:ext cx="419100" cy="419100"/>
          </a:xfrm>
          <a:prstGeom prst="rect">
            <a:avLst/>
          </a:prstGeom>
        </p:spPr>
      </p:pic>
      <p:pic>
        <p:nvPicPr>
          <p:cNvPr id="123" name="Picture 122" descr="image.png">
            <a:extLst>
              <a:ext uri="{FF2B5EF4-FFF2-40B4-BE49-F238E27FC236}">
                <a16:creationId xmlns:a16="http://schemas.microsoft.com/office/drawing/2014/main" id="{C027CB30-B98B-75E7-2170-9C8380AF1E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1707" y="4011665"/>
            <a:ext cx="17145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383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CE5CE0-A894-A51A-46BF-4A6FFE0F1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94FA-FFED-1055-2711-2706B226B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OpenStack Services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2F258F-D960-D315-2DCB-BD7E3F4E2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991600" y="10048"/>
            <a:ext cx="3200400" cy="1273491"/>
          </a:xfrm>
          <a:prstGeom prst="rect">
            <a:avLst/>
          </a:prstGeom>
        </p:spPr>
      </p:pic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A3C59D2F-2E4F-5074-BFE6-5DBE6C70009F}"/>
              </a:ext>
            </a:extLst>
          </p:cNvPr>
          <p:cNvSpPr/>
          <p:nvPr/>
        </p:nvSpPr>
        <p:spPr>
          <a:xfrm>
            <a:off x="762000" y="1421010"/>
            <a:ext cx="10668000" cy="3325615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316D488-04BC-EC5A-8DB7-18D2AD165DB9}"/>
              </a:ext>
            </a:extLst>
          </p:cNvPr>
          <p:cNvSpPr/>
          <p:nvPr/>
        </p:nvSpPr>
        <p:spPr>
          <a:xfrm>
            <a:off x="762000" y="5991225"/>
            <a:ext cx="10668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4F5238F-D24B-6B2B-E15D-F8063A3735DA}"/>
              </a:ext>
            </a:extLst>
          </p:cNvPr>
          <p:cNvSpPr txBox="1"/>
          <p:nvPr/>
        </p:nvSpPr>
        <p:spPr>
          <a:xfrm>
            <a:off x="1571625" y="1792485"/>
            <a:ext cx="2629053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50" b="1" dirty="0">
                <a:solidFill>
                  <a:srgbClr val="0F172A"/>
                </a:solidFill>
                <a:latin typeface="Plus Jakarta Sans"/>
              </a:rPr>
              <a:t>Shared Infrastructure Services</a:t>
            </a:r>
            <a:endParaRPr sz="1650" b="1" i="0" u="none" dirty="0">
              <a:solidFill>
                <a:srgbClr val="0F172A"/>
              </a:solidFill>
              <a:latin typeface="Plus Jakarta San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247B41E-5D05-EC77-989D-6C02D06290AA}"/>
              </a:ext>
            </a:extLst>
          </p:cNvPr>
          <p:cNvGrpSpPr/>
          <p:nvPr/>
        </p:nvGrpSpPr>
        <p:grpSpPr>
          <a:xfrm>
            <a:off x="1076325" y="2254080"/>
            <a:ext cx="4552950" cy="1214914"/>
            <a:chOff x="1076325" y="2254080"/>
            <a:chExt cx="4552950" cy="1214914"/>
          </a:xfrm>
        </p:grpSpPr>
        <p:sp>
          <p:nvSpPr>
            <p:cNvPr id="105" name="Rounded Rectangle 5">
              <a:extLst>
                <a:ext uri="{FF2B5EF4-FFF2-40B4-BE49-F238E27FC236}">
                  <a16:creationId xmlns:a16="http://schemas.microsoft.com/office/drawing/2014/main" id="{901B4BBF-F5C2-8514-89C3-A89BF17BA081}"/>
                </a:ext>
              </a:extLst>
            </p:cNvPr>
            <p:cNvSpPr/>
            <p:nvPr/>
          </p:nvSpPr>
          <p:spPr>
            <a:xfrm>
              <a:off x="1076325" y="2254080"/>
              <a:ext cx="4552950" cy="1214914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A2F7E91D-6863-6BB0-7E03-4B9A6CAA92E8}"/>
                </a:ext>
              </a:extLst>
            </p:cNvPr>
            <p:cNvSpPr txBox="1"/>
            <p:nvPr/>
          </p:nvSpPr>
          <p:spPr>
            <a:xfrm>
              <a:off x="1847850" y="2454105"/>
              <a:ext cx="826893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KEYSTONE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569F43A-EDB8-537F-975D-BF17108EA797}"/>
                </a:ext>
              </a:extLst>
            </p:cNvPr>
            <p:cNvSpPr txBox="1"/>
            <p:nvPr/>
          </p:nvSpPr>
          <p:spPr>
            <a:xfrm>
              <a:off x="1847850" y="2730330"/>
              <a:ext cx="3676650" cy="7386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1200" dirty="0">
                  <a:solidFill>
                    <a:srgbClr val="64748B"/>
                  </a:solidFill>
                  <a:latin typeface="Plus Jakarta Sans"/>
                </a:rPr>
                <a:t>Identity Service – Provides centralized authentication, authorization, and service cataloging, managing user accounts, projects, roles, and access permissions across all cloud services.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8BEE2A-4A7D-87CC-37C1-6B6238984968}"/>
              </a:ext>
            </a:extLst>
          </p:cNvPr>
          <p:cNvGrpSpPr/>
          <p:nvPr/>
        </p:nvGrpSpPr>
        <p:grpSpPr>
          <a:xfrm>
            <a:off x="6562725" y="3566202"/>
            <a:ext cx="4552950" cy="1078594"/>
            <a:chOff x="1076325" y="3427773"/>
            <a:chExt cx="4552950" cy="1078594"/>
          </a:xfrm>
        </p:grpSpPr>
        <p:sp>
          <p:nvSpPr>
            <p:cNvPr id="17" name="Rounded Rectangle 6">
              <a:extLst>
                <a:ext uri="{FF2B5EF4-FFF2-40B4-BE49-F238E27FC236}">
                  <a16:creationId xmlns:a16="http://schemas.microsoft.com/office/drawing/2014/main" id="{BA102D98-16FD-79D3-1B69-AAED6095F289}"/>
                </a:ext>
              </a:extLst>
            </p:cNvPr>
            <p:cNvSpPr/>
            <p:nvPr/>
          </p:nvSpPr>
          <p:spPr>
            <a:xfrm>
              <a:off x="1076325" y="3427773"/>
              <a:ext cx="4552950" cy="1076325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50A810-3391-611E-0C6E-7BE07F6E83D0}"/>
                </a:ext>
              </a:extLst>
            </p:cNvPr>
            <p:cNvSpPr txBox="1"/>
            <p:nvPr/>
          </p:nvSpPr>
          <p:spPr>
            <a:xfrm>
              <a:off x="1847850" y="3627798"/>
              <a:ext cx="836511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BARBICAN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E708ED0-2C46-F554-83B0-FA15EBD9BE32}"/>
                </a:ext>
              </a:extLst>
            </p:cNvPr>
            <p:cNvSpPr txBox="1"/>
            <p:nvPr/>
          </p:nvSpPr>
          <p:spPr>
            <a:xfrm>
              <a:off x="1847850" y="3904023"/>
              <a:ext cx="3676650" cy="6023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5" dirty="0">
                  <a:solidFill>
                    <a:srgbClr val="475569"/>
                  </a:solidFill>
                  <a:latin typeface="Plus Jakarta Sans"/>
                </a:rPr>
                <a:t>Key service - Provides secure storage, provisioning, and lifecycle management for sensitive data such as symmetric keys, asymmetric keys, certificates, and raw secrets.</a:t>
              </a:r>
              <a:endParaRPr sz="1125" b="0" i="0" u="none" dirty="0">
                <a:solidFill>
                  <a:srgbClr val="475569"/>
                </a:solidFill>
                <a:latin typeface="Plus Jakarta San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5D03208-2C12-2BE5-FAE9-9877ECA0EFA7}"/>
              </a:ext>
            </a:extLst>
          </p:cNvPr>
          <p:cNvGrpSpPr/>
          <p:nvPr/>
        </p:nvGrpSpPr>
        <p:grpSpPr>
          <a:xfrm>
            <a:off x="1076325" y="3513867"/>
            <a:ext cx="4552950" cy="1076325"/>
            <a:chOff x="1076325" y="3427773"/>
            <a:chExt cx="4552950" cy="1076325"/>
          </a:xfrm>
        </p:grpSpPr>
        <p:sp>
          <p:nvSpPr>
            <p:cNvPr id="107" name="Rounded Rectangle 6">
              <a:extLst>
                <a:ext uri="{FF2B5EF4-FFF2-40B4-BE49-F238E27FC236}">
                  <a16:creationId xmlns:a16="http://schemas.microsoft.com/office/drawing/2014/main" id="{E2DB74B4-B80E-318D-601D-87EAFF581AA9}"/>
                </a:ext>
              </a:extLst>
            </p:cNvPr>
            <p:cNvSpPr/>
            <p:nvPr/>
          </p:nvSpPr>
          <p:spPr>
            <a:xfrm>
              <a:off x="1076325" y="3427773"/>
              <a:ext cx="4552950" cy="1076325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45DF1D6A-CBBD-D08B-4016-A8B970E9C88C}"/>
                </a:ext>
              </a:extLst>
            </p:cNvPr>
            <p:cNvSpPr txBox="1"/>
            <p:nvPr/>
          </p:nvSpPr>
          <p:spPr>
            <a:xfrm>
              <a:off x="1847850" y="3627798"/>
              <a:ext cx="644407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GLANCE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F0EB278-DB6E-4138-01D6-4D0DDEDFDA44}"/>
                </a:ext>
              </a:extLst>
            </p:cNvPr>
            <p:cNvSpPr txBox="1"/>
            <p:nvPr/>
          </p:nvSpPr>
          <p:spPr>
            <a:xfrm>
              <a:off x="1847850" y="3904023"/>
              <a:ext cx="3676650" cy="51937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1125" dirty="0">
                  <a:solidFill>
                    <a:srgbClr val="475569"/>
                  </a:solidFill>
                  <a:latin typeface="Plus Jakarta Sans"/>
                </a:rPr>
                <a:t>Image service – Stores, discovers, and retrieves virtual machine disk images and metadata, serving as a registry where users can upload and manage bootable operating system templates.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98286F1-DE3C-D535-77CC-90C7E2F3FEDD}"/>
              </a:ext>
            </a:extLst>
          </p:cNvPr>
          <p:cNvGrpSpPr/>
          <p:nvPr/>
        </p:nvGrpSpPr>
        <p:grpSpPr>
          <a:xfrm>
            <a:off x="6562725" y="2268565"/>
            <a:ext cx="4552950" cy="1245302"/>
            <a:chOff x="1076325" y="2254080"/>
            <a:chExt cx="4552950" cy="1245302"/>
          </a:xfrm>
        </p:grpSpPr>
        <p:sp>
          <p:nvSpPr>
            <p:cNvPr id="46" name="Rounded Rectangle 5">
              <a:extLst>
                <a:ext uri="{FF2B5EF4-FFF2-40B4-BE49-F238E27FC236}">
                  <a16:creationId xmlns:a16="http://schemas.microsoft.com/office/drawing/2014/main" id="{B4ED4D0C-964A-4E09-1AD9-DAEB2A567F00}"/>
                </a:ext>
              </a:extLst>
            </p:cNvPr>
            <p:cNvSpPr/>
            <p:nvPr/>
          </p:nvSpPr>
          <p:spPr>
            <a:xfrm>
              <a:off x="1076325" y="2254080"/>
              <a:ext cx="4552950" cy="1245302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004A4C5-4858-302D-ACCC-2FE5ACDD5C52}"/>
                </a:ext>
              </a:extLst>
            </p:cNvPr>
            <p:cNvSpPr txBox="1"/>
            <p:nvPr/>
          </p:nvSpPr>
          <p:spPr>
            <a:xfrm>
              <a:off x="1847850" y="2403303"/>
              <a:ext cx="980397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i="0" u="none" dirty="0">
                  <a:solidFill>
                    <a:srgbClr val="0F172A"/>
                  </a:solidFill>
                  <a:latin typeface="Plus Jakarta Sans"/>
                </a:rPr>
                <a:t>PLACEMENT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6C40EA4-30BF-69BE-EAB5-5C12E62F3A07}"/>
                </a:ext>
              </a:extLst>
            </p:cNvPr>
            <p:cNvSpPr txBox="1"/>
            <p:nvPr/>
          </p:nvSpPr>
          <p:spPr>
            <a:xfrm>
              <a:off x="1847850" y="2679528"/>
              <a:ext cx="3676650" cy="8075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1575"/>
                </a:lnSpc>
              </a:pPr>
              <a:r>
                <a:rPr lang="en-US" sz="1125" b="0" i="0" u="none" dirty="0">
                  <a:solidFill>
                    <a:srgbClr val="475569"/>
                  </a:solidFill>
                  <a:latin typeface="Plus Jakarta Sans"/>
                </a:rPr>
                <a:t>Tracks resource inventories, classes, and usages across the cloud, providing precise tracking and querying capabilities to help the scheduler match compute instances with suitable host resources.</a:t>
              </a:r>
            </a:p>
          </p:txBody>
        </p:sp>
      </p:grp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6F261493-92E1-91FB-C4D6-3DB214FF8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1688817"/>
            <a:ext cx="419100" cy="41910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50D99A63-DB1A-A996-EC42-0840EB0D9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625" y="1803117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6B55DAEB-9E7A-CCF0-D111-2C1606EED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2" y="2457258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8075EB8D-5D23-5D21-3D34-DB059A75F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312" y="2571558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FA352701-98CF-99D7-1FB1-616C79578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012" y="3753776"/>
            <a:ext cx="419100" cy="41910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91F838C5-E017-A442-1D11-87F892F4AA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312" y="3868076"/>
            <a:ext cx="190500" cy="19050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CC8AB5D9-C1EE-24D6-F8FA-D9126EDD7F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7882" y="3756227"/>
            <a:ext cx="419100" cy="419100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66EFBCBA-CA12-4CB8-6C6D-650F98374A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2182" y="3870527"/>
            <a:ext cx="190500" cy="190500"/>
          </a:xfrm>
          <a:prstGeom prst="rect">
            <a:avLst/>
          </a:prstGeom>
        </p:spPr>
      </p:pic>
      <p:pic>
        <p:nvPicPr>
          <p:cNvPr id="73" name="Picture 72" descr="image.png">
            <a:extLst>
              <a:ext uri="{FF2B5EF4-FFF2-40B4-BE49-F238E27FC236}">
                <a16:creationId xmlns:a16="http://schemas.microsoft.com/office/drawing/2014/main" id="{124877AC-81F2-DA0E-A27B-0EAA496E6F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2590" y="2467145"/>
            <a:ext cx="419100" cy="419100"/>
          </a:xfrm>
          <a:prstGeom prst="rect">
            <a:avLst/>
          </a:prstGeom>
        </p:spPr>
      </p:pic>
      <p:pic>
        <p:nvPicPr>
          <p:cNvPr id="75" name="Picture 74" descr="image.png">
            <a:extLst>
              <a:ext uri="{FF2B5EF4-FFF2-40B4-BE49-F238E27FC236}">
                <a16:creationId xmlns:a16="http://schemas.microsoft.com/office/drawing/2014/main" id="{828A6973-5A28-43D2-3804-B0697DD921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0227" y="2581445"/>
            <a:ext cx="123825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807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F89987-67A8-0576-047A-E20A2131F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4341-0A0D-2803-E34D-1A31D0385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OpenStack Services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3B8A80-D741-940A-3C5B-B1E992A737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991600" y="10048"/>
            <a:ext cx="3200400" cy="1273491"/>
          </a:xfrm>
          <a:prstGeom prst="rect">
            <a:avLst/>
          </a:prstGeom>
        </p:spPr>
      </p:pic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7C21F12D-E380-1AC8-7F93-F10E54B96E2C}"/>
              </a:ext>
            </a:extLst>
          </p:cNvPr>
          <p:cNvSpPr/>
          <p:nvPr/>
        </p:nvSpPr>
        <p:spPr>
          <a:xfrm>
            <a:off x="762000" y="1421009"/>
            <a:ext cx="5181600" cy="3480131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74A3267-648F-DE75-E4FA-88072D99F84D}"/>
              </a:ext>
            </a:extLst>
          </p:cNvPr>
          <p:cNvSpPr/>
          <p:nvPr/>
        </p:nvSpPr>
        <p:spPr>
          <a:xfrm>
            <a:off x="762000" y="5991225"/>
            <a:ext cx="10668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19D0BD5-B40B-65BE-A92F-102BB1D1E4EE}"/>
              </a:ext>
            </a:extLst>
          </p:cNvPr>
          <p:cNvSpPr txBox="1"/>
          <p:nvPr/>
        </p:nvSpPr>
        <p:spPr>
          <a:xfrm>
            <a:off x="1571625" y="1792485"/>
            <a:ext cx="1984261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50" b="1" dirty="0">
                <a:solidFill>
                  <a:srgbClr val="0F172A"/>
                </a:solidFill>
                <a:latin typeface="Plus Jakarta Sans"/>
              </a:rPr>
              <a:t>Workload Provisioning</a:t>
            </a:r>
            <a:endParaRPr sz="1650" b="1" i="0" u="none" dirty="0">
              <a:solidFill>
                <a:srgbClr val="0F172A"/>
              </a:solidFill>
              <a:latin typeface="Plus Jakarta San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414771-0B14-22C4-F749-9A96000FF718}"/>
              </a:ext>
            </a:extLst>
          </p:cNvPr>
          <p:cNvGrpSpPr/>
          <p:nvPr/>
        </p:nvGrpSpPr>
        <p:grpSpPr>
          <a:xfrm>
            <a:off x="1076325" y="2254080"/>
            <a:ext cx="4552950" cy="1166146"/>
            <a:chOff x="1076325" y="2254080"/>
            <a:chExt cx="4552950" cy="1077380"/>
          </a:xfrm>
        </p:grpSpPr>
        <p:sp>
          <p:nvSpPr>
            <p:cNvPr id="105" name="Rounded Rectangle 5">
              <a:extLst>
                <a:ext uri="{FF2B5EF4-FFF2-40B4-BE49-F238E27FC236}">
                  <a16:creationId xmlns:a16="http://schemas.microsoft.com/office/drawing/2014/main" id="{C3803A4C-482E-AAC4-5A4A-3E2376E438BA}"/>
                </a:ext>
              </a:extLst>
            </p:cNvPr>
            <p:cNvSpPr/>
            <p:nvPr/>
          </p:nvSpPr>
          <p:spPr>
            <a:xfrm>
              <a:off x="1076325" y="2254080"/>
              <a:ext cx="4552950" cy="1076325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89AEC4E-22B5-75E4-51B4-CBAB7101E8D7}"/>
                </a:ext>
              </a:extLst>
            </p:cNvPr>
            <p:cNvSpPr txBox="1"/>
            <p:nvPr/>
          </p:nvSpPr>
          <p:spPr>
            <a:xfrm>
              <a:off x="1847850" y="2308877"/>
              <a:ext cx="824778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MAGNUM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CB5731E-A8B3-67FF-9C4A-672B78F31EFC}"/>
                </a:ext>
              </a:extLst>
            </p:cNvPr>
            <p:cNvSpPr txBox="1"/>
            <p:nvPr/>
          </p:nvSpPr>
          <p:spPr>
            <a:xfrm>
              <a:off x="1847850" y="2569457"/>
              <a:ext cx="3676650" cy="7620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1470"/>
                </a:lnSpc>
              </a:pPr>
              <a:r>
                <a:rPr lang="en-US" sz="1200" dirty="0">
                  <a:solidFill>
                    <a:srgbClr val="475569"/>
                  </a:solidFill>
                  <a:latin typeface="Plus Jakarta Sans"/>
                </a:rPr>
                <a:t>OpenStack container orchestration service that provisions and manages container cluster management platforms—such as Kubernetes, Docker Swarm, and Apache Mesos—as first-class resources using Heat and Glance.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5DB9F14-EF85-BAE8-6963-10293E67655C}"/>
              </a:ext>
            </a:extLst>
          </p:cNvPr>
          <p:cNvGrpSpPr/>
          <p:nvPr/>
        </p:nvGrpSpPr>
        <p:grpSpPr>
          <a:xfrm>
            <a:off x="1076325" y="3471532"/>
            <a:ext cx="4552950" cy="1321377"/>
            <a:chOff x="1076325" y="3427773"/>
            <a:chExt cx="4552950" cy="1321377"/>
          </a:xfrm>
        </p:grpSpPr>
        <p:sp>
          <p:nvSpPr>
            <p:cNvPr id="107" name="Rounded Rectangle 6">
              <a:extLst>
                <a:ext uri="{FF2B5EF4-FFF2-40B4-BE49-F238E27FC236}">
                  <a16:creationId xmlns:a16="http://schemas.microsoft.com/office/drawing/2014/main" id="{D3DC2237-B329-5832-2F8C-746CC542C8EA}"/>
                </a:ext>
              </a:extLst>
            </p:cNvPr>
            <p:cNvSpPr/>
            <p:nvPr/>
          </p:nvSpPr>
          <p:spPr>
            <a:xfrm>
              <a:off x="1076325" y="3427773"/>
              <a:ext cx="4552950" cy="1321377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B60E959-9663-A1E2-6408-C6FFB034EDE9}"/>
                </a:ext>
              </a:extLst>
            </p:cNvPr>
            <p:cNvSpPr txBox="1"/>
            <p:nvPr/>
          </p:nvSpPr>
          <p:spPr>
            <a:xfrm>
              <a:off x="1847850" y="3627798"/>
              <a:ext cx="536685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TROVE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7DCF02D0-2BA3-B915-DD67-62E52A5519D1}"/>
                </a:ext>
              </a:extLst>
            </p:cNvPr>
            <p:cNvSpPr txBox="1"/>
            <p:nvPr/>
          </p:nvSpPr>
          <p:spPr>
            <a:xfrm>
              <a:off x="1847850" y="3904023"/>
              <a:ext cx="3676650" cy="7386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200" dirty="0">
                  <a:solidFill>
                    <a:srgbClr val="475569"/>
                  </a:solidFill>
                  <a:latin typeface="Plus Jakarta Sans"/>
                </a:rPr>
                <a:t>Database as a Service (DBaaS) - </a:t>
              </a:r>
              <a:r>
                <a:rPr lang="en-US" sz="1200" dirty="0">
                  <a:solidFill>
                    <a:srgbClr val="475569"/>
                  </a:solidFill>
                  <a:latin typeface="Plus Jakarta Sans"/>
                </a:rPr>
                <a:t>component that provisions, manages, and scales both relational and non-relational database engines, automating administrative tasks such as backups, replication, and recovery.</a:t>
              </a:r>
              <a:endParaRPr lang="en-US" sz="1125" dirty="0">
                <a:solidFill>
                  <a:srgbClr val="475569"/>
                </a:solidFill>
                <a:latin typeface="Plus Jakarta Sans"/>
              </a:endParaRPr>
            </a:p>
          </p:txBody>
        </p:sp>
      </p:grpSp>
      <p:sp>
        <p:nvSpPr>
          <p:cNvPr id="43" name="Rounded Rectangle 2">
            <a:extLst>
              <a:ext uri="{FF2B5EF4-FFF2-40B4-BE49-F238E27FC236}">
                <a16:creationId xmlns:a16="http://schemas.microsoft.com/office/drawing/2014/main" id="{FEE274A0-302F-CDF7-5C83-DB132F54E531}"/>
              </a:ext>
            </a:extLst>
          </p:cNvPr>
          <p:cNvSpPr/>
          <p:nvPr/>
        </p:nvSpPr>
        <p:spPr>
          <a:xfrm>
            <a:off x="6248400" y="1435495"/>
            <a:ext cx="5181600" cy="3465645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AD8649-C9FD-53BB-4C81-DE30997B0091}"/>
              </a:ext>
            </a:extLst>
          </p:cNvPr>
          <p:cNvSpPr txBox="1"/>
          <p:nvPr/>
        </p:nvSpPr>
        <p:spPr>
          <a:xfrm>
            <a:off x="7058025" y="1806970"/>
            <a:ext cx="179055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50" b="1" dirty="0">
                <a:solidFill>
                  <a:srgbClr val="0F172A"/>
                </a:solidFill>
                <a:latin typeface="Plus Jakarta Sans"/>
              </a:rPr>
              <a:t>Application Lifecycle</a:t>
            </a:r>
            <a:endParaRPr sz="1650" b="1" i="0" u="none" dirty="0">
              <a:solidFill>
                <a:srgbClr val="0F172A"/>
              </a:solidFill>
              <a:latin typeface="Plus Jakarta Sans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73D4B09-817A-E378-51FB-1E6D5CC0F40F}"/>
              </a:ext>
            </a:extLst>
          </p:cNvPr>
          <p:cNvGrpSpPr/>
          <p:nvPr/>
        </p:nvGrpSpPr>
        <p:grpSpPr>
          <a:xfrm>
            <a:off x="6562725" y="2268565"/>
            <a:ext cx="4552950" cy="1137290"/>
            <a:chOff x="1076325" y="2254080"/>
            <a:chExt cx="4552950" cy="1137290"/>
          </a:xfrm>
        </p:grpSpPr>
        <p:sp>
          <p:nvSpPr>
            <p:cNvPr id="46" name="Rounded Rectangle 5">
              <a:extLst>
                <a:ext uri="{FF2B5EF4-FFF2-40B4-BE49-F238E27FC236}">
                  <a16:creationId xmlns:a16="http://schemas.microsoft.com/office/drawing/2014/main" id="{B11DACC7-FFD5-B00C-0FC2-4AFD67626880}"/>
                </a:ext>
              </a:extLst>
            </p:cNvPr>
            <p:cNvSpPr/>
            <p:nvPr/>
          </p:nvSpPr>
          <p:spPr>
            <a:xfrm>
              <a:off x="1076325" y="2254080"/>
              <a:ext cx="4552950" cy="1137290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379C4BE-518E-70F7-B85C-F889AC4F4864}"/>
                </a:ext>
              </a:extLst>
            </p:cNvPr>
            <p:cNvSpPr txBox="1"/>
            <p:nvPr/>
          </p:nvSpPr>
          <p:spPr>
            <a:xfrm>
              <a:off x="1847850" y="2310172"/>
              <a:ext cx="680314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i="0" u="none" dirty="0">
                  <a:solidFill>
                    <a:srgbClr val="0F172A"/>
                  </a:solidFill>
                  <a:latin typeface="Plus Jakarta Sans"/>
                </a:rPr>
                <a:t>FREEZER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D6CEAE1-D4DC-20C3-5311-F8824854FAE6}"/>
                </a:ext>
              </a:extLst>
            </p:cNvPr>
            <p:cNvSpPr txBox="1"/>
            <p:nvPr/>
          </p:nvSpPr>
          <p:spPr>
            <a:xfrm>
              <a:off x="1847850" y="2569463"/>
              <a:ext cx="3676650" cy="7386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1200" dirty="0">
                  <a:solidFill>
                    <a:srgbClr val="64748B"/>
                  </a:solidFill>
                  <a:latin typeface="Plus Jakarta Sans"/>
                </a:rPr>
                <a:t>OpenStack backup, restoration, and disaster recovery service that provides automated, efficient, and resource-optimized data protection for file systems, databases, block storage volumes, and cloud instances.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AF03858-03F0-459C-9183-92EEDCD0B411}"/>
              </a:ext>
            </a:extLst>
          </p:cNvPr>
          <p:cNvGrpSpPr/>
          <p:nvPr/>
        </p:nvGrpSpPr>
        <p:grpSpPr>
          <a:xfrm>
            <a:off x="6562725" y="3452145"/>
            <a:ext cx="4552950" cy="1340764"/>
            <a:chOff x="1076325" y="3427773"/>
            <a:chExt cx="4552950" cy="1340764"/>
          </a:xfrm>
        </p:grpSpPr>
        <p:sp>
          <p:nvSpPr>
            <p:cNvPr id="54" name="Rounded Rectangle 6">
              <a:extLst>
                <a:ext uri="{FF2B5EF4-FFF2-40B4-BE49-F238E27FC236}">
                  <a16:creationId xmlns:a16="http://schemas.microsoft.com/office/drawing/2014/main" id="{E92F68AF-0399-CFE6-EF1E-1FD033BDA83C}"/>
                </a:ext>
              </a:extLst>
            </p:cNvPr>
            <p:cNvSpPr/>
            <p:nvPr/>
          </p:nvSpPr>
          <p:spPr>
            <a:xfrm>
              <a:off x="1076325" y="3427773"/>
              <a:ext cx="4552950" cy="1340764"/>
            </a:xfrm>
            <a:prstGeom prst="roundRect">
              <a:avLst>
                <a:gd name="adj" fmla="val 12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6EA065C-5220-A63A-DAC2-9E80D1653FF5}"/>
                </a:ext>
              </a:extLst>
            </p:cNvPr>
            <p:cNvSpPr txBox="1"/>
            <p:nvPr/>
          </p:nvSpPr>
          <p:spPr>
            <a:xfrm>
              <a:off x="1847850" y="3627798"/>
              <a:ext cx="874470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Plus Jakarta Sans"/>
                </a:rPr>
                <a:t>MASAKARI</a:t>
              </a:r>
              <a:endParaRPr sz="15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C0994D8-7ACD-D540-7BCE-0EA02F878183}"/>
                </a:ext>
              </a:extLst>
            </p:cNvPr>
            <p:cNvSpPr txBox="1"/>
            <p:nvPr/>
          </p:nvSpPr>
          <p:spPr>
            <a:xfrm>
              <a:off x="1847850" y="3904023"/>
              <a:ext cx="3676650" cy="7386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1200" dirty="0">
                  <a:solidFill>
                    <a:srgbClr val="64748B"/>
                  </a:solidFill>
                  <a:latin typeface="Plus Jakarta Sans"/>
                </a:rPr>
                <a:t>OpenStack instance high availability service that automates recovery and failover procedures for virtual machines and compute hosts when infrastructure or service failures occur, minimizing application downtime.</a:t>
              </a:r>
            </a:p>
          </p:txBody>
        </p:sp>
      </p:grp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DE786BEC-C68D-51BC-D8BD-EF541E3F7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04" y="1695648"/>
            <a:ext cx="419100" cy="41910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DFA6DBDF-735E-10CF-495F-8652B03A1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816" y="1809948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7578EC99-A5C6-C090-E6EF-7ECCBDCF1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304" y="2462886"/>
            <a:ext cx="419100" cy="419100"/>
          </a:xfrm>
          <a:prstGeom prst="rect">
            <a:avLst/>
          </a:prstGeom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283C07F0-7649-38C1-8650-99DAB68DC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316" y="2577186"/>
            <a:ext cx="219075" cy="190500"/>
          </a:xfrm>
          <a:prstGeom prst="rect">
            <a:avLst/>
          </a:prstGeom>
        </p:spPr>
      </p:pic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A3B35245-902B-72AA-0CD8-0E5B7FC48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775" y="3588997"/>
            <a:ext cx="419100" cy="41910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85EE724A-606C-3663-1F19-D209584960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703297"/>
            <a:ext cx="171450" cy="190500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8F9A41D7-DD4B-4B55-2B47-E7161CA7FD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8544" y="1684158"/>
            <a:ext cx="419100" cy="419100"/>
          </a:xfrm>
          <a:prstGeom prst="rect">
            <a:avLst/>
          </a:prstGeom>
        </p:spPr>
      </p:pic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B3E753C1-9F15-7DEA-FF5C-94CB95B513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844" y="1798458"/>
            <a:ext cx="190500" cy="190500"/>
          </a:xfrm>
          <a:prstGeom prst="rect">
            <a:avLst/>
          </a:prstGeom>
        </p:spPr>
      </p:pic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5DF4ADAC-0610-E1B1-4643-D5B1F9305C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5924" y="2462886"/>
            <a:ext cx="419100" cy="419100"/>
          </a:xfrm>
          <a:prstGeom prst="rect">
            <a:avLst/>
          </a:prstGeom>
        </p:spPr>
      </p:pic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0A168CDF-5FC5-3378-EE53-9F9A7E64C0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0224" y="2577186"/>
            <a:ext cx="190500" cy="190500"/>
          </a:xfrm>
          <a:prstGeom prst="rect">
            <a:avLst/>
          </a:prstGeom>
        </p:spPr>
      </p:pic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A66FB571-B6A5-0B54-3A7E-785D610FF1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5478" y="3637685"/>
            <a:ext cx="419100" cy="419100"/>
          </a:xfrm>
          <a:prstGeom prst="rect">
            <a:avLst/>
          </a:prstGeom>
        </p:spPr>
      </p:pic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35F56129-20E9-651D-ADB9-BCD4EA370E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9778" y="3751985"/>
            <a:ext cx="1905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83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0172D-D5D3-A124-DBA6-6F511D69C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72CA-FF02-8ECA-4946-80E388075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OpenStack Conceptual Architecture	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DCE994-B1FB-BEB3-56C5-11D148296F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991600" y="10048"/>
            <a:ext cx="3200400" cy="12734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78BCF0-0687-7181-B76A-FB839037F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656" y="1283539"/>
            <a:ext cx="6734687" cy="544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192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E96E91-C7D0-BA51-90EB-0258197B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63E5E-FD4F-74F8-33C1-6009857AA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OpenStack Logical Architecture	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B2B7C-B3DA-931F-5793-A977F43A6F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0" t="76098" r="62122" b="5333"/>
          <a:stretch>
            <a:fillRect/>
          </a:stretch>
        </p:blipFill>
        <p:spPr>
          <a:xfrm>
            <a:off x="8991600" y="10048"/>
            <a:ext cx="3200400" cy="12734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7F6F8C-6F2E-D2FC-9821-6B26313CDF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67" y="1283539"/>
            <a:ext cx="11489266" cy="547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00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2024</TotalTime>
  <Words>944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Plus Jakarta Sans</vt:lpstr>
      <vt:lpstr>Red Hat Display</vt:lpstr>
      <vt:lpstr>Office Theme</vt:lpstr>
      <vt:lpstr>OpenStack Architecture</vt:lpstr>
      <vt:lpstr>OpenStack Services</vt:lpstr>
      <vt:lpstr>OpenStack Services</vt:lpstr>
      <vt:lpstr>OpenStack Services</vt:lpstr>
      <vt:lpstr>OpenStack Services</vt:lpstr>
      <vt:lpstr>OpenStack Services</vt:lpstr>
      <vt:lpstr>OpenStack Services</vt:lpstr>
      <vt:lpstr>OpenStack Services</vt:lpstr>
      <vt:lpstr>OpenStack Conceptual Architecture </vt:lpstr>
      <vt:lpstr>OpenStack Logical Architecture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Nawinee  Detthitichai</dc:creator>
  <cp:lastModifiedBy>Prapat Uanomjitkul</cp:lastModifiedBy>
  <cp:revision>28</cp:revision>
  <dcterms:created xsi:type="dcterms:W3CDTF">2026-09-21T04:36:08Z</dcterms:created>
  <dcterms:modified xsi:type="dcterms:W3CDTF">2026-09-25T09:30:46Z</dcterms:modified>
</cp:coreProperties>
</file>